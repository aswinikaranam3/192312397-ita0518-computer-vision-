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9" r:id="rId6"/>
    <p:sldId id="269" r:id="rId7"/>
    <p:sldId id="258" r:id="rId8"/>
    <p:sldId id="273" r:id="rId9"/>
    <p:sldId id="261" r:id="rId10"/>
    <p:sldId id="262" r:id="rId11"/>
    <p:sldId id="265" r:id="rId12"/>
    <p:sldId id="266" r:id="rId13"/>
    <p:sldId id="267" r:id="rId14"/>
    <p:sldId id="272" r:id="rId15"/>
    <p:sldId id="268" r:id="rId16"/>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horzBarState="maximized">
    <p:restoredLeft sz="34587" autoAdjust="0"/>
    <p:restoredTop sz="86378" autoAdjust="0"/>
  </p:normalViewPr>
  <p:slideViewPr>
    <p:cSldViewPr snapToGrid="0" snapToObjects="1" showGuides="1">
      <p:cViewPr>
        <p:scale>
          <a:sx n="108" d="100"/>
          <a:sy n="108" d="100"/>
        </p:scale>
        <p:origin x="-1426" y="-466"/>
      </p:cViewPr>
      <p:guideLst>
        <p:guide orient="horz" pos="1620"/>
        <p:guide pos="2844"/>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75" d="100"/>
          <a:sy n="75" d="100"/>
        </p:scale>
        <p:origin x="-3346" y="-72"/>
      </p:cViewPr>
      <p:guideLst>
        <p:guide orient="horz" pos="2880"/>
        <p:guide pos="1599"/>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https://ae01.alicdn.com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https://www.build-electronic-circuits.com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https://thumbs.dreamstime.com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https://www.slidemake.com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https://teachingwriting.stanford.edu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https://img.electronicdesign.com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https://i1.wp.com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7" name="Group 6"/>
          <p:cNvGrpSpPr/>
          <p:nvPr/>
        </p:nvGrpSpPr>
        <p:grpSpPr>
          <a:xfrm>
            <a:off x="-12700" y="0"/>
            <a:ext cx="9173370" cy="5142161"/>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9736202" y="3147609"/>
              <a:ext cx="2478024" cy="612648"/>
            </a:xfrm>
            <a:prstGeom prst="rect">
              <a:avLst/>
            </a:prstGeom>
          </p:spPr>
        </p:pic>
      </p:grpSp>
      <p:sp>
        <p:nvSpPr>
          <p:cNvPr id="2" name="Title 1"/>
          <p:cNvSpPr>
            <a:spLocks noGrp="1"/>
          </p:cNvSpPr>
          <p:nvPr>
            <p:ph type="ctrTitle"/>
          </p:nvPr>
        </p:nvSpPr>
        <p:spPr>
          <a:xfrm>
            <a:off x="2019299" y="1403349"/>
            <a:ext cx="5111752" cy="1136650"/>
          </a:xfrm>
        </p:spPr>
        <p:txBody>
          <a:bodyPr anchor="b">
            <a:noAutofit/>
          </a:bodyPr>
          <a:lstStyle>
            <a:lvl1pPr algn="ctr">
              <a:defRPr sz="4050">
                <a:effectLst/>
              </a:defRPr>
            </a:lvl1pPr>
          </a:lstStyle>
          <a:p>
            <a:r>
              <a:rPr lang="en-US"/>
              <a:t>Click to edit Master title style</a:t>
            </a:r>
            <a:endParaRPr lang="en-US" dirty="0"/>
          </a:p>
        </p:txBody>
      </p:sp>
      <p:sp>
        <p:nvSpPr>
          <p:cNvPr id="3" name="Subtitle 2"/>
          <p:cNvSpPr>
            <a:spLocks noGrp="1"/>
          </p:cNvSpPr>
          <p:nvPr>
            <p:ph type="subTitle" idx="1"/>
          </p:nvPr>
        </p:nvSpPr>
        <p:spPr>
          <a:xfrm>
            <a:off x="2019299" y="2743198"/>
            <a:ext cx="5111752" cy="990602"/>
          </a:xfrm>
        </p:spPr>
        <p:txBody>
          <a:bodyPr anchor="t">
            <a:normAutofit/>
          </a:bodyPr>
          <a:lstStyle>
            <a:lvl1pPr marL="0" indent="0" algn="ctr">
              <a:buNone/>
              <a:defRPr sz="1575">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5987425" y="3778247"/>
            <a:ext cx="673100" cy="209550"/>
          </a:xfr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127DEEDD-21BB-47E7-9586-8D8CBE4E2385}"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a:xfrm>
            <a:off x="2019298" y="3778247"/>
            <a:ext cx="3910976" cy="209550"/>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a:xfrm>
            <a:off x="6717676" y="3778247"/>
            <a:ext cx="413375" cy="20955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0EB2F9E-C9E0-4EA3-A9E2-0DF5F691060E}"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5" name="Straight Connector 14"/>
          <p:cNvCxnSpPr/>
          <p:nvPr/>
        </p:nvCxnSpPr>
        <p:spPr>
          <a:xfrm>
            <a:off x="2019299" y="2641598"/>
            <a:ext cx="5111751"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A7AE056-E91C-4F84-BAD6-96EF71B921FE}"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11302" y="1314454"/>
            <a:ext cx="6119016" cy="1366886"/>
          </a:xfrm>
        </p:spPr>
        <p:txBody>
          <a:bodyPr anchor="b">
            <a:normAutofit/>
          </a:bodyPr>
          <a:lstStyle>
            <a:lvl1pPr algn="ctr">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1511300" y="2884539"/>
            <a:ext cx="6119018" cy="715910"/>
          </a:xfrm>
        </p:spPr>
        <p:txBody>
          <a:bodyPr anchor="t">
            <a:normAutofit/>
          </a:bodyPr>
          <a:lstStyle>
            <a:lvl1pPr marL="0" indent="0" algn="ctr">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3EF51AE-A3EC-4B5C-BBEE-5BE19F0C3DE2}"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6" name="Straight Connector 15"/>
          <p:cNvCxnSpPr/>
          <p:nvPr/>
        </p:nvCxnSpPr>
        <p:spPr>
          <a:xfrm>
            <a:off x="1509542" y="2782939"/>
            <a:ext cx="6122535"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73836" y="1920240"/>
            <a:ext cx="3538728" cy="2482596"/>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636008" y="1920240"/>
            <a:ext cx="3538728" cy="2482596"/>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D551B092-A2AF-4010-BE70-8179EC9A76AC}"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1550" y="1993900"/>
            <a:ext cx="3538728" cy="432197"/>
          </a:xfrm>
        </p:spPr>
        <p:txBody>
          <a:bodyPr anchor="b">
            <a:noAutofit/>
          </a:bodyPr>
          <a:lstStyle>
            <a:lvl1pPr marL="0" indent="0">
              <a:spcBef>
                <a:spcPts val="505"/>
              </a:spcBef>
              <a:spcAft>
                <a:spcPts val="450"/>
              </a:spcAft>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971550" y="2432447"/>
            <a:ext cx="3538728" cy="1974454"/>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635503" y="1993900"/>
            <a:ext cx="3538728" cy="432197"/>
          </a:xfrm>
        </p:spPr>
        <p:txBody>
          <a:bodyPr anchor="b">
            <a:noAutofit/>
          </a:bodyPr>
          <a:lstStyle>
            <a:lvl1pPr marL="0" indent="0">
              <a:spcBef>
                <a:spcPts val="505"/>
              </a:spcBef>
              <a:spcAft>
                <a:spcPts val="450"/>
              </a:spcAft>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5"/>
          <p:cNvSpPr>
            <a:spLocks noGrp="1"/>
          </p:cNvSpPr>
          <p:nvPr>
            <p:ph sz="quarter" idx="4"/>
          </p:nvPr>
        </p:nvSpPr>
        <p:spPr>
          <a:xfrm>
            <a:off x="4635503" y="2432447"/>
            <a:ext cx="3538728" cy="1974454"/>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4D5A4D6-2F3E-4AB3-9AAD-F86FA4EC764A}"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8" name="Straight Connector 17"/>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01E66CEF-9313-493D-BEA7-2A0502D264C9}"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4" name="Straight Connector 13"/>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1E317F6-10D5-42F4-B923-70E953D3BE3C}"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0359" y="1041401"/>
            <a:ext cx="2788841" cy="1028700"/>
          </a:xfrm>
        </p:spPr>
        <p:txBody>
          <a:bodyPr anchor="b">
            <a:normAutofit/>
          </a:bodyPr>
          <a:lstStyle>
            <a:lvl1pPr algn="ctr">
              <a:defRPr sz="1800" b="0"/>
            </a:lvl1pPr>
          </a:lstStyle>
          <a:p>
            <a:r>
              <a:rPr lang="en-US"/>
              <a:t>Click to edit Master title style</a:t>
            </a:r>
            <a:endParaRPr lang="en-US" dirty="0"/>
          </a:p>
        </p:txBody>
      </p:sp>
      <p:sp>
        <p:nvSpPr>
          <p:cNvPr id="3" name="Content Placeholder 2"/>
          <p:cNvSpPr>
            <a:spLocks noGrp="1"/>
          </p:cNvSpPr>
          <p:nvPr>
            <p:ph idx="1"/>
          </p:nvPr>
        </p:nvSpPr>
        <p:spPr>
          <a:xfrm>
            <a:off x="4064001" y="736599"/>
            <a:ext cx="4102100" cy="3670301"/>
          </a:xfrm>
        </p:spPr>
        <p:txBody>
          <a:bodyPr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970359" y="2273299"/>
            <a:ext cx="2788841" cy="1828803"/>
          </a:xfrm>
        </p:spPr>
        <p:txBody>
          <a:bodyPr anchor="t">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306C9CC-318C-4E70-91C2-BF570ACECC17}"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6" name="Straight Connector 15"/>
          <p:cNvCxnSpPr/>
          <p:nvPr/>
        </p:nvCxnSpPr>
        <p:spPr>
          <a:xfrm>
            <a:off x="1047127" y="2184400"/>
            <a:ext cx="26358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1549" y="1412874"/>
            <a:ext cx="4681362" cy="1028700"/>
          </a:xfrm>
        </p:spPr>
        <p:txBody>
          <a:bodyPr anchor="b">
            <a:normAutofit/>
          </a:bodyPr>
          <a:lstStyle>
            <a:lvl1pPr algn="ctr">
              <a:defRPr sz="21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6071124" y="781050"/>
            <a:ext cx="2297510" cy="35814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971549" y="2441574"/>
            <a:ext cx="4681362" cy="1371600"/>
          </a:xfrm>
        </p:spPr>
        <p:txBody>
          <a:bodyPr anchor="t">
            <a:normAutofit/>
          </a:bodyPr>
          <a:lstStyle>
            <a:lvl1pPr marL="0" indent="0" algn="ctr">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61C43A1E-86A2-4906-915B-B8948254E49F}"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1551" y="3611561"/>
            <a:ext cx="7207250" cy="425054"/>
          </a:xfrm>
        </p:spPr>
        <p:txBody>
          <a:bodyPr anchor="b">
            <a:normAutofit/>
          </a:bodyPr>
          <a:lstStyle>
            <a:lvl1pPr algn="ctr">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1070" y="781050"/>
            <a:ext cx="7579479" cy="2501902"/>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971551" y="4036615"/>
            <a:ext cx="7207250" cy="370284"/>
          </a:xfrm>
        </p:spPr>
        <p:txBody>
          <a:bodyPr>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D3CBE081-D5C9-4A7B-9DD3-C94672E13DC0}"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77901" y="736599"/>
            <a:ext cx="7194549" cy="2216151"/>
          </a:xfrm>
        </p:spPr>
        <p:txBody>
          <a:bodyPr anchor="ctr">
            <a:normAutofit/>
          </a:bodyPr>
          <a:lstStyle>
            <a:lvl1pPr algn="ctr">
              <a:defRPr sz="2400" b="0" cap="none"/>
            </a:lvl1pPr>
          </a:lstStyle>
          <a:p>
            <a:r>
              <a:rPr lang="en-US"/>
              <a:t>Click to edit Master title style</a:t>
            </a:r>
            <a:endParaRPr lang="en-US" dirty="0"/>
          </a:p>
        </p:txBody>
      </p:sp>
      <p:sp>
        <p:nvSpPr>
          <p:cNvPr id="3" name="Text Placeholder 2"/>
          <p:cNvSpPr>
            <a:spLocks noGrp="1"/>
          </p:cNvSpPr>
          <p:nvPr>
            <p:ph type="body" idx="1"/>
          </p:nvPr>
        </p:nvSpPr>
        <p:spPr>
          <a:xfrm>
            <a:off x="977901" y="3257550"/>
            <a:ext cx="7194549" cy="11493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F49C7BF-8F33-40E1-812C-FF531E0DDC2C}"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5" name="Straight Connector 14"/>
          <p:cNvCxnSpPr/>
          <p:nvPr/>
        </p:nvCxnSpPr>
        <p:spPr>
          <a:xfrm>
            <a:off x="1047127" y="3105149"/>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60" y="736599"/>
            <a:ext cx="6972299" cy="1778001"/>
          </a:xfrm>
        </p:spPr>
        <p:txBody>
          <a:bodyPr anchor="ctr">
            <a:normAutofit/>
          </a:bodyPr>
          <a:lstStyle>
            <a:lvl1pPr algn="ctr">
              <a:defRPr sz="24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256109" y="2514600"/>
            <a:ext cx="6629402" cy="438150"/>
          </a:xfrm>
        </p:spPr>
        <p:txBody>
          <a:bodyPr anchor="ctr">
            <a:normAutofit/>
          </a:bodyPr>
          <a:lstStyle>
            <a:lvl1pPr marL="0" indent="0" algn="r">
              <a:buFontTx/>
              <a:buNone/>
              <a:defRPr sz="1500"/>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971551" y="3257550"/>
            <a:ext cx="7207250" cy="11493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70A88584-667A-4259-BFBF-A94EDBF130A5}"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4" name="TextBox 13"/>
          <p:cNvSpPr txBox="1"/>
          <p:nvPr/>
        </p:nvSpPr>
        <p:spPr>
          <a:xfrm>
            <a:off x="646510" y="659971"/>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endParaRPr lang="en-US" sz="6000" dirty="0">
              <a:solidFill>
                <a:schemeClr val="tx1"/>
              </a:solidFill>
              <a:effectLst/>
            </a:endParaRPr>
          </a:p>
        </p:txBody>
      </p:sp>
      <p:sp>
        <p:nvSpPr>
          <p:cNvPr id="15" name="TextBox 14"/>
          <p:cNvSpPr txBox="1"/>
          <p:nvPr/>
        </p:nvSpPr>
        <p:spPr>
          <a:xfrm>
            <a:off x="7950200" y="2120903"/>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endParaRPr lang="en-US" sz="6000" dirty="0">
              <a:solidFill>
                <a:schemeClr val="tx1"/>
              </a:solidFill>
              <a:effectLst/>
            </a:endParaRPr>
          </a:p>
        </p:txBody>
      </p:sp>
      <p:cxnSp>
        <p:nvCxnSpPr>
          <p:cNvPr id="19" name="Straight Connector 18"/>
          <p:cNvCxnSpPr/>
          <p:nvPr/>
        </p:nvCxnSpPr>
        <p:spPr>
          <a:xfrm>
            <a:off x="1047127" y="3105149"/>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71552" y="2481436"/>
            <a:ext cx="7207251" cy="1101600"/>
          </a:xfrm>
        </p:spPr>
        <p:txBody>
          <a:bodyPr anchor="b">
            <a:normAutofit/>
          </a:bodyPr>
          <a:lstStyle>
            <a:lvl1pPr algn="l">
              <a:defRPr sz="2400" b="0" cap="none"/>
            </a:lvl1pPr>
          </a:lstStyle>
          <a:p>
            <a:r>
              <a:rPr lang="en-US"/>
              <a:t>Click to edit Master title style</a:t>
            </a:r>
            <a:endParaRPr lang="en-US" dirty="0"/>
          </a:p>
        </p:txBody>
      </p:sp>
      <p:sp>
        <p:nvSpPr>
          <p:cNvPr id="3" name="Text Placeholder 2"/>
          <p:cNvSpPr>
            <a:spLocks noGrp="1"/>
          </p:cNvSpPr>
          <p:nvPr>
            <p:ph type="body" idx="1"/>
          </p:nvPr>
        </p:nvSpPr>
        <p:spPr>
          <a:xfrm>
            <a:off x="971551" y="3583036"/>
            <a:ext cx="7207251" cy="645300"/>
          </a:xfrm>
        </p:spPr>
        <p:txBody>
          <a:bodyPr anchor="t">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CEE4C1AE-E74F-43DA-A6FD-DEBB92BB6EFF}"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084660" y="736599"/>
            <a:ext cx="6972299" cy="1682751"/>
          </a:xfrm>
        </p:spPr>
        <p:txBody>
          <a:bodyPr anchor="ctr">
            <a:normAutofit/>
          </a:bodyPr>
          <a:lstStyle>
            <a:lvl1pPr algn="ctr">
              <a:defRPr sz="24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971551" y="2729484"/>
            <a:ext cx="7207251" cy="665226"/>
          </a:xfrm>
        </p:spPr>
        <p:txBody>
          <a:bodyPr anchor="b">
            <a:normAutofit/>
          </a:bodyPr>
          <a:lstStyle>
            <a:lvl1pPr marL="0" indent="0" algn="l">
              <a:spcBef>
                <a:spcPts val="0"/>
              </a:spcBef>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3" name="Text Placeholder 2"/>
          <p:cNvSpPr>
            <a:spLocks noGrp="1"/>
          </p:cNvSpPr>
          <p:nvPr>
            <p:ph type="body" idx="1"/>
          </p:nvPr>
        </p:nvSpPr>
        <p:spPr>
          <a:xfrm>
            <a:off x="971551" y="3397250"/>
            <a:ext cx="7207251" cy="100965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2B959E1D-07A2-424D-9F84-A8007D176C56}"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2" name="TextBox 11"/>
          <p:cNvSpPr txBox="1"/>
          <p:nvPr/>
        </p:nvSpPr>
        <p:spPr>
          <a:xfrm>
            <a:off x="646510" y="659971"/>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endParaRPr lang="en-US" sz="6000" dirty="0">
              <a:solidFill>
                <a:schemeClr val="tx1"/>
              </a:solidFill>
              <a:effectLst/>
            </a:endParaRPr>
          </a:p>
        </p:txBody>
      </p:sp>
      <p:sp>
        <p:nvSpPr>
          <p:cNvPr id="13" name="TextBox 12"/>
          <p:cNvSpPr txBox="1"/>
          <p:nvPr/>
        </p:nvSpPr>
        <p:spPr>
          <a:xfrm>
            <a:off x="7950200" y="1949446"/>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endParaRPr lang="en-US" sz="6000" dirty="0">
              <a:solidFill>
                <a:schemeClr val="tx1"/>
              </a:solidFill>
              <a:effectLst/>
            </a:endParaRPr>
          </a:p>
        </p:txBody>
      </p:sp>
      <p:cxnSp>
        <p:nvCxnSpPr>
          <p:cNvPr id="26" name="Straight Connector 25"/>
          <p:cNvCxnSpPr/>
          <p:nvPr/>
        </p:nvCxnSpPr>
        <p:spPr>
          <a:xfrm>
            <a:off x="1047127" y="257175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971551" y="736599"/>
            <a:ext cx="7207250" cy="1682751"/>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971551" y="2722626"/>
            <a:ext cx="7207251" cy="630936"/>
          </a:xfrm>
        </p:spPr>
        <p:txBody>
          <a:bodyPr anchor="b">
            <a:normAutofit/>
          </a:bodyPr>
          <a:lstStyle>
            <a:lvl1pPr marL="0" indent="0" algn="l">
              <a:spcBef>
                <a:spcPts val="0"/>
              </a:spcBef>
              <a:buNone/>
              <a:defRPr sz="21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3" name="Text Placeholder 2"/>
          <p:cNvSpPr>
            <a:spLocks noGrp="1"/>
          </p:cNvSpPr>
          <p:nvPr>
            <p:ph type="body" idx="1"/>
          </p:nvPr>
        </p:nvSpPr>
        <p:spPr>
          <a:xfrm>
            <a:off x="971550" y="3352800"/>
            <a:ext cx="7207253" cy="105410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2F99FFF-5ADB-47B1-9372-435859E07032}"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5" name="Straight Connector 14"/>
          <p:cNvCxnSpPr/>
          <p:nvPr/>
        </p:nvCxnSpPr>
        <p:spPr>
          <a:xfrm>
            <a:off x="1047127" y="257175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7DE19873-A706-45F1-9AAD-6004FE125DCC}"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4" name="Straight Connector 13"/>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9518" y="736599"/>
            <a:ext cx="1418171" cy="36703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971549" y="736599"/>
            <a:ext cx="5574769" cy="3670301"/>
          </a:xfrm>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D202F7F3-D792-441E-AF10-15B593449578}"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cxnSp>
        <p:nvCxnSpPr>
          <p:cNvPr id="14" name="Straight Connector 13"/>
          <p:cNvCxnSpPr/>
          <p:nvPr/>
        </p:nvCxnSpPr>
        <p:spPr>
          <a:xfrm>
            <a:off x="6647918" y="742950"/>
            <a:ext cx="0" cy="36576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AF5A71B3-99A7-4C14-A482-14D54FB923BE}" type="datetime6">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image" Target="../media/image4.png"/><Relationship Id="rId2" Type="http://schemas.openxmlformats.org/officeDocument/2006/relationships/slideLayout" Target="../slideLayouts/slideLayout2.xml"/><Relationship Id="rId19" Type="http://schemas.openxmlformats.org/officeDocument/2006/relationships/image" Target="../media/image3.png"/><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1802" y="0"/>
            <a:ext cx="9172472" cy="5142161"/>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a:fill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a:fillRect/>
            </a:stretch>
          </p:blipFill>
          <p:spPr>
            <a:xfrm>
              <a:off x="11436986" y="3153832"/>
              <a:ext cx="777240" cy="606425"/>
            </a:xfrm>
            <a:prstGeom prst="rect">
              <a:avLst/>
            </a:prstGeom>
          </p:spPr>
        </p:pic>
      </p:grpSp>
      <p:sp>
        <p:nvSpPr>
          <p:cNvPr id="2" name="Title Placeholder 1"/>
          <p:cNvSpPr>
            <a:spLocks noGrp="1"/>
          </p:cNvSpPr>
          <p:nvPr>
            <p:ph type="title"/>
          </p:nvPr>
        </p:nvSpPr>
        <p:spPr>
          <a:xfrm>
            <a:off x="971552" y="736600"/>
            <a:ext cx="7200897" cy="9779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71551" y="1917699"/>
            <a:ext cx="7200897" cy="2489202"/>
          </a:xfrm>
          <a:prstGeom prst="rect">
            <a:avLst/>
          </a:prstGeom>
        </p:spPr>
        <p:txBody>
          <a:bodyPr vert="horz" lIns="91440" tIns="45720" rIns="91440" bIns="45720" rtlCol="0"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6508126" y="4476750"/>
            <a:ext cx="1200150" cy="20955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638DF114-BE6D-437F-A234-070E189FE2EA}" type="datetime6">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3"/>
          </p:nvPr>
        </p:nvSpPr>
        <p:spPr>
          <a:xfrm>
            <a:off x="971551" y="4476750"/>
            <a:ext cx="5479425" cy="209550"/>
          </a:xfrm>
          <a:prstGeom prst="rect">
            <a:avLst/>
          </a:prstGeom>
        </p:spPr>
        <p:txBody>
          <a:bodyPr vert="horz" lIns="91440" tIns="45720" rIns="91440" bIns="45720" rtlCol="0" anchor="ctr"/>
          <a:lstStyle>
            <a:lvl1pPr algn="l">
              <a:defRPr sz="750" b="0" i="0">
                <a:solidFill>
                  <a:schemeClr val="tx1"/>
                </a:solidFill>
                <a:effectLst/>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4"/>
          </p:nvPr>
        </p:nvSpPr>
        <p:spPr>
          <a:xfrm>
            <a:off x="7765426" y="4476750"/>
            <a:ext cx="407023" cy="20955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p:txStyles>
    <p:titleStyle>
      <a:lvl1pPr algn="ctr" defTabSz="342900" rtl="0" eaLnBrk="1" latinLnBrk="0" hangingPunct="1">
        <a:spcBef>
          <a:spcPct val="0"/>
        </a:spcBef>
        <a:buNone/>
        <a:defRPr sz="33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630" indent="-214630" algn="l" defTabSz="342900" rtl="0" eaLnBrk="1" latinLnBrk="0" hangingPunct="1">
        <a:spcBef>
          <a:spcPct val="20000"/>
        </a:spcBef>
        <a:spcAft>
          <a:spcPts val="45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1pPr>
      <a:lvl2pPr marL="557530" indent="-214630" algn="l" defTabSz="342900" rtl="0" eaLnBrk="1" latinLnBrk="0" hangingPunct="1">
        <a:spcBef>
          <a:spcPct val="20000"/>
        </a:spcBef>
        <a:spcAft>
          <a:spcPts val="450"/>
        </a:spcAft>
        <a:buClr>
          <a:schemeClr val="accent1"/>
        </a:buClr>
        <a:buSzPct val="115000"/>
        <a:buFont typeface="Arial" panose="020B0604020202020204"/>
        <a:buChar char="•"/>
        <a:defRPr sz="1500" kern="1200" cap="none">
          <a:solidFill>
            <a:schemeClr val="tx1">
              <a:lumMod val="85000"/>
              <a:lumOff val="15000"/>
            </a:schemeClr>
          </a:solidFill>
          <a:effectLst/>
          <a:latin typeface="+mn-lt"/>
          <a:ea typeface="+mn-ea"/>
          <a:cs typeface="+mn-cs"/>
        </a:defRPr>
      </a:lvl2pPr>
      <a:lvl3pPr marL="900430" indent="-214630" algn="l" defTabSz="342900" rtl="0" eaLnBrk="1" latinLnBrk="0" hangingPunct="1">
        <a:spcBef>
          <a:spcPct val="20000"/>
        </a:spcBef>
        <a:spcAft>
          <a:spcPts val="450"/>
        </a:spcAft>
        <a:buClr>
          <a:schemeClr val="accent1"/>
        </a:buClr>
        <a:buSzPct val="115000"/>
        <a:buFont typeface="Arial" panose="020B0604020202020204"/>
        <a:buChar char="•"/>
        <a:defRPr sz="1350" kern="1200" cap="none">
          <a:solidFill>
            <a:schemeClr val="tx1">
              <a:lumMod val="85000"/>
              <a:lumOff val="15000"/>
            </a:schemeClr>
          </a:solidFill>
          <a:effectLst/>
          <a:latin typeface="+mn-lt"/>
          <a:ea typeface="+mn-ea"/>
          <a:cs typeface="+mn-cs"/>
        </a:defRPr>
      </a:lvl3pPr>
      <a:lvl4pPr marL="1157605" indent="-128905" algn="l" defTabSz="342900" rtl="0" eaLnBrk="1" latinLnBrk="0" hangingPunct="1">
        <a:spcBef>
          <a:spcPct val="20000"/>
        </a:spcBef>
        <a:spcAft>
          <a:spcPts val="450"/>
        </a:spcAft>
        <a:buClr>
          <a:schemeClr val="accent1"/>
        </a:buClr>
        <a:buSzPct val="115000"/>
        <a:buFont typeface="Arial" panose="020B0604020202020204"/>
        <a:buChar char="•"/>
        <a:defRPr sz="1200" kern="1200" cap="none">
          <a:solidFill>
            <a:schemeClr val="tx1">
              <a:lumMod val="85000"/>
              <a:lumOff val="15000"/>
            </a:schemeClr>
          </a:solidFill>
          <a:effectLst/>
          <a:latin typeface="+mn-lt"/>
          <a:ea typeface="+mn-ea"/>
          <a:cs typeface="+mn-cs"/>
        </a:defRPr>
      </a:lvl4pPr>
      <a:lvl5pPr marL="1500505" indent="-128905" algn="l" defTabSz="342900" rtl="0" eaLnBrk="1" latinLnBrk="0" hangingPunct="1">
        <a:spcBef>
          <a:spcPct val="20000"/>
        </a:spcBef>
        <a:spcAft>
          <a:spcPts val="450"/>
        </a:spcAft>
        <a:buClr>
          <a:schemeClr val="accent1"/>
        </a:buClr>
        <a:buSzPct val="115000"/>
        <a:buFont typeface="Arial" panose="020B0604020202020204"/>
        <a:buChar char="•"/>
        <a:defRPr sz="1050" kern="1200" cap="none">
          <a:solidFill>
            <a:schemeClr val="tx1">
              <a:lumMod val="85000"/>
              <a:lumOff val="15000"/>
            </a:schemeClr>
          </a:solidFill>
          <a:effectLst/>
          <a:latin typeface="+mn-lt"/>
          <a:ea typeface="+mn-ea"/>
          <a:cs typeface="+mn-cs"/>
        </a:defRPr>
      </a:lvl5pPr>
      <a:lvl6pPr marL="1885950" indent="-171450" algn="l" defTabSz="342900" rtl="0" eaLnBrk="1" latinLnBrk="0" hangingPunct="1">
        <a:spcBef>
          <a:spcPct val="20000"/>
        </a:spcBef>
        <a:spcAft>
          <a:spcPts val="450"/>
        </a:spcAft>
        <a:buClr>
          <a:schemeClr val="accent1"/>
        </a:buClr>
        <a:buSzPct val="115000"/>
        <a:buFont typeface="Arial" panose="020B0604020202020204"/>
        <a:buChar char="•"/>
        <a:defRPr sz="1050" kern="1200" cap="none">
          <a:solidFill>
            <a:schemeClr val="tx1">
              <a:lumMod val="85000"/>
              <a:lumOff val="15000"/>
            </a:schemeClr>
          </a:solidFill>
          <a:effectLst/>
          <a:latin typeface="+mn-lt"/>
          <a:ea typeface="+mn-ea"/>
          <a:cs typeface="+mn-cs"/>
        </a:defRPr>
      </a:lvl6pPr>
      <a:lvl7pPr marL="2228850" indent="-171450" algn="l" defTabSz="342900" rtl="0" eaLnBrk="1" latinLnBrk="0" hangingPunct="1">
        <a:spcBef>
          <a:spcPct val="20000"/>
        </a:spcBef>
        <a:spcAft>
          <a:spcPts val="450"/>
        </a:spcAft>
        <a:buClr>
          <a:schemeClr val="accent1"/>
        </a:buClr>
        <a:buSzPct val="115000"/>
        <a:buFont typeface="Arial" panose="020B0604020202020204"/>
        <a:buChar char="•"/>
        <a:defRPr sz="1050" kern="1200" cap="none">
          <a:solidFill>
            <a:schemeClr val="tx1">
              <a:lumMod val="85000"/>
              <a:lumOff val="15000"/>
            </a:schemeClr>
          </a:solidFill>
          <a:effectLst/>
          <a:latin typeface="+mn-lt"/>
          <a:ea typeface="+mn-ea"/>
          <a:cs typeface="+mn-cs"/>
        </a:defRPr>
      </a:lvl7pPr>
      <a:lvl8pPr marL="2571750" indent="-171450" algn="l" defTabSz="342900" rtl="0" eaLnBrk="1" latinLnBrk="0" hangingPunct="1">
        <a:spcBef>
          <a:spcPct val="20000"/>
        </a:spcBef>
        <a:spcAft>
          <a:spcPts val="450"/>
        </a:spcAft>
        <a:buClr>
          <a:schemeClr val="accent1"/>
        </a:buClr>
        <a:buSzPct val="115000"/>
        <a:buFont typeface="Arial" panose="020B0604020202020204"/>
        <a:buChar char="•"/>
        <a:defRPr sz="1050" kern="1200" cap="none">
          <a:solidFill>
            <a:schemeClr val="tx1">
              <a:lumMod val="85000"/>
              <a:lumOff val="15000"/>
            </a:schemeClr>
          </a:solidFill>
          <a:effectLst/>
          <a:latin typeface="+mn-lt"/>
          <a:ea typeface="+mn-ea"/>
          <a:cs typeface="+mn-cs"/>
        </a:defRPr>
      </a:lvl8pPr>
      <a:lvl9pPr marL="2914650" indent="-171450" algn="l" defTabSz="342900" rtl="0" eaLnBrk="1" latinLnBrk="0" hangingPunct="1">
        <a:spcBef>
          <a:spcPct val="20000"/>
        </a:spcBef>
        <a:spcAft>
          <a:spcPts val="450"/>
        </a:spcAft>
        <a:buClr>
          <a:schemeClr val="accent1"/>
        </a:buClr>
        <a:buSzPct val="115000"/>
        <a:buFont typeface="Arial" panose="020B0604020202020204"/>
        <a:buChar char="•"/>
        <a:defRPr sz="1050" kern="1200" cap="none">
          <a:solidFill>
            <a:schemeClr val="tx1">
              <a:lumMod val="85000"/>
              <a:lumOff val="15000"/>
            </a:schemeClr>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8.xml"/><Relationship Id="rId1" Type="http://schemas.openxmlformats.org/officeDocument/2006/relationships/image" Target="../media/image7.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8.xml"/><Relationship Id="rId2" Type="http://schemas.openxmlformats.org/officeDocument/2006/relationships/image" Target="../media/image9.png"/><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8.xml"/><Relationship Id="rId2" Type="http://schemas.openxmlformats.org/officeDocument/2006/relationships/image" Target="../media/image9.png"/><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8.pn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8.xml"/><Relationship Id="rId2" Type="http://schemas.openxmlformats.org/officeDocument/2006/relationships/image" Target="../media/image9.png"/><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image" Target="../media/image8.png"/><Relationship Id="rId3" Type="http://schemas.openxmlformats.org/officeDocument/2006/relationships/image" Target="../media/image9.png"/><Relationship Id="rId2" Type="http://schemas.openxmlformats.org/officeDocument/2006/relationships/image" Target="../media/image11.jpeg"/><Relationship Id="rId1" Type="http://schemas.openxmlformats.org/officeDocument/2006/relationships/image" Target="../media/image10.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8.xml"/><Relationship Id="rId2" Type="http://schemas.openxmlformats.org/officeDocument/2006/relationships/image" Target="../media/image9.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8.xml"/><Relationship Id="rId2" Type="http://schemas.openxmlformats.org/officeDocument/2006/relationships/image" Target="../media/image9.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8.xml"/><Relationship Id="rId2" Type="http://schemas.openxmlformats.org/officeDocument/2006/relationships/image" Target="../media/image9.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8.xml"/><Relationship Id="rId2" Type="http://schemas.openxmlformats.org/officeDocument/2006/relationships/image" Target="../media/image9.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8.xml"/><Relationship Id="rId2" Type="http://schemas.openxmlformats.org/officeDocument/2006/relationships/image" Target="../media/image9.png"/><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12.jpeg"/><Relationship Id="rId2" Type="http://schemas.openxmlformats.org/officeDocument/2006/relationships/image" Target="../media/image8.png"/><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8.png"/><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13471" y="1803079"/>
            <a:ext cx="8229600" cy="935516"/>
          </a:xfrm>
          <a:prstGeom prst="rect">
            <a:avLst/>
          </a:prstGeom>
          <a:noFill/>
        </p:spPr>
        <p:txBody>
          <a:bodyPr wrap="square" rtlCol="0" anchor="ctr"/>
          <a:lstStyle/>
          <a:p>
            <a:pPr algn="ctr"/>
            <a:endParaRPr lang="en-US" sz="2400" b="1" u="sng" dirty="0">
              <a:solidFill>
                <a:srgbClr val="002060"/>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13471" y="541460"/>
            <a:ext cx="8110024" cy="1125415"/>
          </a:xfrm>
          <a:prstGeom prst="rect">
            <a:avLst/>
          </a:prstGeom>
        </p:spPr>
      </p:pic>
      <p:sp>
        <p:nvSpPr>
          <p:cNvPr id="9" name="TextBox 8"/>
          <p:cNvSpPr txBox="1"/>
          <p:nvPr/>
        </p:nvSpPr>
        <p:spPr>
          <a:xfrm>
            <a:off x="4688058" y="3582084"/>
            <a:ext cx="4586068" cy="829945"/>
          </a:xfrm>
          <a:prstGeom prst="rect">
            <a:avLst/>
          </a:prstGeom>
          <a:noFill/>
        </p:spPr>
        <p:txBody>
          <a:bodyPr wrap="square">
            <a:spAutoFit/>
          </a:bodyPr>
          <a:lstStyle/>
          <a:p>
            <a:pPr algn="ctr">
              <a:lnSpc>
                <a:spcPct val="150000"/>
              </a:lnSpc>
            </a:pPr>
            <a:r>
              <a:rPr lang="en-IN" sz="1600" b="1" dirty="0">
                <a:latin typeface="Times New Roman" panose="02020603050405020304" pitchFamily="18" charset="0"/>
                <a:cs typeface="Times New Roman" panose="02020603050405020304" pitchFamily="18" charset="0"/>
              </a:rPr>
              <a:t>PRESENTED BY</a:t>
            </a:r>
            <a:endParaRPr lang="en-IN" sz="1600" b="1" dirty="0">
              <a:latin typeface="Times New Roman" panose="02020603050405020304" pitchFamily="18" charset="0"/>
              <a:cs typeface="Times New Roman" panose="02020603050405020304" pitchFamily="18" charset="0"/>
            </a:endParaRPr>
          </a:p>
          <a:p>
            <a:pPr algn="ctr">
              <a:lnSpc>
                <a:spcPct val="150000"/>
              </a:lnSpc>
            </a:pPr>
            <a:r>
              <a:rPr lang="en-US" sz="1600" b="1" dirty="0" smtClean="0">
                <a:latin typeface="Times New Roman" panose="02020603050405020304" pitchFamily="18" charset="0"/>
                <a:cs typeface="Times New Roman" panose="02020603050405020304" pitchFamily="18" charset="0"/>
              </a:rPr>
              <a:t>K.ASWINI(192312397)</a:t>
            </a:r>
            <a:r>
              <a:rPr lang="en-IN" altLang="en-US" sz="1600" b="1" dirty="0" smtClean="0">
                <a:latin typeface="Times New Roman" panose="02020603050405020304" pitchFamily="18" charset="0"/>
                <a:cs typeface="Times New Roman" panose="02020603050405020304" pitchFamily="18" charset="0"/>
              </a:rPr>
              <a:t>-ECE</a:t>
            </a:r>
            <a:endParaRPr lang="en-IN" sz="1600" b="1"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513472" y="3965119"/>
            <a:ext cx="2978946" cy="645160"/>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Guided by</a:t>
            </a:r>
            <a:endParaRPr lang="en-IN" b="1" dirty="0">
              <a:latin typeface="Times New Roman" panose="02020603050405020304" pitchFamily="18" charset="0"/>
              <a:cs typeface="Times New Roman" panose="02020603050405020304" pitchFamily="18" charset="0"/>
            </a:endParaRPr>
          </a:p>
          <a:p>
            <a:r>
              <a:rPr lang="en-IN" b="1" dirty="0" smtClean="0">
                <a:latin typeface="Times New Roman" panose="02020603050405020304" pitchFamily="18" charset="0"/>
                <a:cs typeface="Times New Roman" panose="02020603050405020304" pitchFamily="18" charset="0"/>
              </a:rPr>
              <a:t>Dr.T.M.USHA</a:t>
            </a:r>
            <a:endParaRPr lang="en-IN" b="1"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559192" y="3060284"/>
            <a:ext cx="4874454" cy="521970"/>
          </a:xfrm>
          <a:prstGeom prst="rect">
            <a:avLst/>
          </a:prstGeom>
          <a:noFill/>
        </p:spPr>
        <p:txBody>
          <a:bodyPr wrap="square">
            <a:spAutoFit/>
          </a:bodyPr>
          <a:lstStyle/>
          <a:p>
            <a:r>
              <a:rPr lang="en-IN" sz="1400" b="1" dirty="0">
                <a:latin typeface="Times New Roman" panose="02020603050405020304" pitchFamily="18" charset="0"/>
                <a:cs typeface="Times New Roman" panose="02020603050405020304" pitchFamily="18" charset="0"/>
              </a:rPr>
              <a:t>COURSE CODE:ITA0518-COMPUTER VISION</a:t>
            </a:r>
            <a:endParaRPr lang="en-IN" sz="1400" b="1" dirty="0">
              <a:latin typeface="Times New Roman" panose="02020603050405020304" pitchFamily="18" charset="0"/>
              <a:cs typeface="Times New Roman" panose="02020603050405020304" pitchFamily="18" charset="0"/>
            </a:endParaRPr>
          </a:p>
          <a:p>
            <a:endParaRPr lang="en-IN" sz="1400" b="1" dirty="0">
              <a:latin typeface="Times New Roman" panose="02020603050405020304" pitchFamily="18" charset="0"/>
              <a:cs typeface="Times New Roman" panose="02020603050405020304" pitchFamily="18" charset="0"/>
            </a:endParaRPr>
          </a:p>
        </p:txBody>
      </p:sp>
      <p:graphicFrame>
        <p:nvGraphicFramePr>
          <p:cNvPr id="3" name="Table 2"/>
          <p:cNvGraphicFramePr/>
          <p:nvPr/>
        </p:nvGraphicFramePr>
        <p:xfrm>
          <a:off x="2190750" y="1816100"/>
          <a:ext cx="4762500" cy="963930"/>
        </p:xfrm>
        <a:graphic>
          <a:graphicData uri="http://schemas.openxmlformats.org/drawingml/2006/table">
            <a:tbl>
              <a:tblPr/>
              <a:tblGrid>
                <a:gridCol w="4762500"/>
              </a:tblGrid>
              <a:tr h="963930">
                <a:tc>
                  <a:txBody>
                    <a:bodyPr/>
                    <a:p>
                      <a:pPr algn="ctr"/>
                      <a:r>
                        <a:rPr lang="en-US" altLang="en-US" sz="2000" b="1">
                          <a:latin typeface="Times New Roman" panose="02020603050405020304" pitchFamily="18" charset="0"/>
                          <a:cs typeface="Times New Roman" panose="02020603050405020304" pitchFamily="18" charset="0"/>
                        </a:rPr>
                        <a:t> </a:t>
                      </a:r>
                      <a:r>
                        <a:rPr lang="en-IN" altLang="en-US" sz="2000" b="1">
                          <a:latin typeface="Times New Roman" panose="02020603050405020304" pitchFamily="18" charset="0"/>
                          <a:cs typeface="Times New Roman" panose="02020603050405020304" pitchFamily="18" charset="0"/>
                        </a:rPr>
                        <a:t>A</a:t>
                      </a:r>
                      <a:r>
                        <a:rPr lang="en-US" altLang="en-US" sz="2000" b="1">
                          <a:latin typeface="Times New Roman" panose="02020603050405020304" pitchFamily="18" charset="0"/>
                          <a:cs typeface="Times New Roman" panose="02020603050405020304" pitchFamily="18" charset="0"/>
                        </a:rPr>
                        <a:t> comparative study of analog vs digital image acquisition, using structured visuals and examples.</a:t>
                      </a:r>
                      <a:endParaRPr lang="en-US" altLang="en-US" sz="2000" b="1">
                        <a:latin typeface="Times New Roman" panose="02020603050405020304" pitchFamily="18" charset="0"/>
                        <a:cs typeface="Times New Roman" panose="02020603050405020304" pitchFamily="18" charset="0"/>
                      </a:endParaRPr>
                    </a:p>
                  </a:txBody>
                  <a:tcPr marL="23177" marR="23177" marT="15557" marB="15557" anchor="ctr" anchorCtr="0">
                    <a:lnL w="7620" cap="flat" cmpd="sng">
                      <a:solidFill>
                        <a:srgbClr val="FFFFFF"/>
                      </a:solidFill>
                      <a:prstDash val="solid"/>
                      <a:headEnd type="none" w="med" len="med"/>
                      <a:tailEnd type="none" w="med" len="med"/>
                    </a:lnL>
                    <a:lnR w="7620" cap="flat" cmpd="sng">
                      <a:solidFill>
                        <a:srgbClr val="FFFFFF"/>
                      </a:solidFill>
                      <a:prstDash val="solid"/>
                      <a:headEnd type="none" w="med" len="med"/>
                      <a:tailEnd type="none" w="med" len="med"/>
                    </a:lnR>
                    <a:lnT w="7620" cap="flat" cmpd="sng">
                      <a:solidFill>
                        <a:srgbClr val="FFFFFF"/>
                      </a:solidFill>
                      <a:prstDash val="solid"/>
                      <a:headEnd type="none" w="med" len="med"/>
                      <a:tailEnd type="none" w="med" len="med"/>
                    </a:lnT>
                    <a:lnB w="7620" cap="flat" cmpd="sng">
                      <a:solidFill>
                        <a:srgbClr val="FFFFFF"/>
                      </a:solidFill>
                      <a:prstDash val="solid"/>
                      <a:headEnd type="none" w="med" len="med"/>
                      <a:tailEnd type="none" w="med" len="med"/>
                    </a:lnB>
                    <a:no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439174" y="381196"/>
            <a:ext cx="8229600" cy="822960"/>
          </a:xfrm>
          <a:prstGeom prst="rect">
            <a:avLst/>
          </a:prstGeom>
          <a:noFill/>
        </p:spPr>
        <p:txBody>
          <a:bodyPr wrap="square" rtlCol="0" anchor="ctr"/>
          <a:lstStyle/>
          <a:p>
            <a:pPr algn="ctr"/>
            <a:r>
              <a:rPr lang="en-US" sz="3600" b="1" u="sng" dirty="0" smtClean="0">
                <a:solidFill>
                  <a:srgbClr val="002060"/>
                </a:solidFill>
                <a:latin typeface="Times New Roman" panose="02020603050405020304" pitchFamily="18" charset="0"/>
                <a:ea typeface="Optima" pitchFamily="34" charset="-122"/>
                <a:cs typeface="Times New Roman" panose="02020603050405020304" pitchFamily="18" charset="0"/>
              </a:rPr>
              <a:t>Introduction</a:t>
            </a:r>
            <a:endParaRPr lang="en-US" sz="3600" u="sng" dirty="0">
              <a:solidFill>
                <a:srgbClr val="002060"/>
              </a:solidFill>
              <a:latin typeface="Times New Roman" panose="02020603050405020304" pitchFamily="18" charset="0"/>
              <a:cs typeface="Times New Roman" panose="02020603050405020304" pitchFamily="18" charset="0"/>
            </a:endParaRPr>
          </a:p>
        </p:txBody>
      </p:sp>
      <p:sp>
        <p:nvSpPr>
          <p:cNvPr id="5" name="Text 1"/>
          <p:cNvSpPr/>
          <p:nvPr/>
        </p:nvSpPr>
        <p:spPr>
          <a:xfrm>
            <a:off x="605155" y="1503680"/>
            <a:ext cx="7820025" cy="2969260"/>
          </a:xfrm>
          <a:prstGeom prst="rect">
            <a:avLst/>
          </a:prstGeom>
          <a:noFill/>
        </p:spPr>
        <p:txBody>
          <a:bodyPr wrap="square" rtlCol="0" anchor="t"/>
          <a:lstStyle/>
          <a:p>
            <a:pPr marL="342900" indent="-342900" algn="just">
              <a:buFont typeface="Wingdings" panose="05000000000000000000" pitchFamily="2" charset="2"/>
              <a:buChar char="Ø"/>
            </a:pPr>
            <a:r>
              <a:rPr lang="en-US" altLang="en-US" sz="1600" dirty="0">
                <a:latin typeface="Times New Roman" panose="02020603050405020304" pitchFamily="18" charset="0"/>
                <a:cs typeface="Times New Roman" panose="02020603050405020304" pitchFamily="18" charset="0"/>
              </a:rPr>
              <a:t>Image acquisition is the process of capturing a real-world scene and converting it into a form that can be processed by a system. </a:t>
            </a:r>
            <a:endParaRPr lang="en-US" altLang="en-US" sz="16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altLang="en-US" sz="1600" dirty="0">
                <a:latin typeface="Times New Roman" panose="02020603050405020304" pitchFamily="18" charset="0"/>
                <a:cs typeface="Times New Roman" panose="02020603050405020304" pitchFamily="18" charset="0"/>
              </a:rPr>
              <a:t>It is the first and most important step in image processing and computer vision. </a:t>
            </a:r>
            <a:endParaRPr lang="en-US" altLang="en-US" sz="16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altLang="en-US" sz="1600" dirty="0">
                <a:latin typeface="Times New Roman" panose="02020603050405020304" pitchFamily="18" charset="0"/>
                <a:cs typeface="Times New Roman" panose="02020603050405020304" pitchFamily="18" charset="0"/>
              </a:rPr>
              <a:t>Image acquisition can be performed using two main approaches: analog and digital. </a:t>
            </a:r>
            <a:endParaRPr lang="en-US" altLang="en-US" sz="16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altLang="en-US" sz="1600" dirty="0">
                <a:latin typeface="Times New Roman" panose="02020603050405020304" pitchFamily="18" charset="0"/>
                <a:cs typeface="Times New Roman" panose="02020603050405020304" pitchFamily="18" charset="0"/>
              </a:rPr>
              <a:t>In analog image acquisition, the image is captured as a continuous signal without any discrete representation.</a:t>
            </a:r>
            <a:endParaRPr lang="en-US" altLang="en-US" sz="16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altLang="en-US" sz="1600" dirty="0">
                <a:latin typeface="Times New Roman" panose="02020603050405020304" pitchFamily="18" charset="0"/>
                <a:cs typeface="Times New Roman" panose="02020603050405020304" pitchFamily="18" charset="0"/>
              </a:rPr>
              <a:t> In contrast, digital image acquisition converts the image into discrete pixel values using sampling and quantization, making it suitable for storage, processing, and analysis. </a:t>
            </a:r>
            <a:endParaRPr lang="en-US" altLang="en-US" sz="16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altLang="en-US" sz="1600" dirty="0">
                <a:latin typeface="Times New Roman" panose="02020603050405020304" pitchFamily="18" charset="0"/>
                <a:cs typeface="Times New Roman" panose="02020603050405020304" pitchFamily="18" charset="0"/>
              </a:rPr>
              <a:t>Understanding the difference between analog and digital image acquisition is essential for designing efficient imaging systems and improving image quality.</a:t>
            </a:r>
            <a:endParaRPr lang="en-US" altLang="en-US" sz="1600" dirty="0">
              <a:latin typeface="Times New Roman" panose="02020603050405020304" pitchFamily="18" charset="0"/>
              <a:cs typeface="Times New Roman" panose="02020603050405020304" pitchFamily="18" charset="0"/>
            </a:endParaRPr>
          </a:p>
        </p:txBody>
      </p:sp>
      <p:pic>
        <p:nvPicPr>
          <p:cNvPr id="1028" name="Picture 4" descr="Saveetha Institute of Medical and Technical Sciences -SIMATS | Chenna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IMATS CGPA Calc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226" y="456150"/>
            <a:ext cx="769568" cy="8361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316523" y="313006"/>
            <a:ext cx="8229600" cy="1079696"/>
          </a:xfrm>
          <a:prstGeom prst="rect">
            <a:avLst/>
          </a:prstGeom>
          <a:noFill/>
        </p:spPr>
        <p:txBody>
          <a:bodyPr wrap="square" rtlCol="0" anchor="ctr"/>
          <a:lstStyle/>
          <a:p>
            <a:pPr algn="ctr"/>
            <a:r>
              <a:rPr lang="en-IN" altLang="en-US" sz="2800" b="1" u="sng" dirty="0">
                <a:solidFill>
                  <a:srgbClr val="002060"/>
                </a:solidFill>
                <a:latin typeface="Times New Roman" panose="02020603050405020304" pitchFamily="18" charset="0"/>
                <a:cs typeface="Times New Roman" panose="02020603050405020304" pitchFamily="18" charset="0"/>
              </a:rPr>
              <a:t>DIGITAL IMAGE ACQUISITION</a:t>
            </a:r>
            <a:endParaRPr lang="en-IN" altLang="en-US" sz="2800" b="1" u="sng" dirty="0">
              <a:solidFill>
                <a:srgbClr val="002060"/>
              </a:solidFill>
              <a:latin typeface="Times New Roman" panose="02020603050405020304" pitchFamily="18" charset="0"/>
              <a:cs typeface="Times New Roman" panose="02020603050405020304" pitchFamily="18" charset="0"/>
            </a:endParaRPr>
          </a:p>
        </p:txBody>
      </p:sp>
      <p:pic>
        <p:nvPicPr>
          <p:cNvPr id="3" name="Picture 4" descr="Saveetha Institute of Medical and Technical Sciences -SIMATS | Chenna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SIMATS CGPA Calc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226" y="473954"/>
            <a:ext cx="769568" cy="8361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Table 8"/>
          <p:cNvGraphicFramePr>
            <a:graphicFrameLocks noGrp="1"/>
          </p:cNvGraphicFramePr>
          <p:nvPr/>
        </p:nvGraphicFramePr>
        <p:xfrm>
          <a:off x="1930498" y="4846320"/>
          <a:ext cx="5001650" cy="297180"/>
        </p:xfrm>
        <a:graphic>
          <a:graphicData uri="http://schemas.openxmlformats.org/drawingml/2006/table">
            <a:tbl>
              <a:tblPr>
                <a:tableStyleId>{073A0DAA-6AF3-43AB-8588-CEC1D06C72B9}</a:tableStyleId>
              </a:tblPr>
              <a:tblGrid>
                <a:gridCol w="609806"/>
                <a:gridCol w="1243271"/>
                <a:gridCol w="1316087"/>
                <a:gridCol w="1832486"/>
              </a:tblGrid>
              <a:tr h="0">
                <a:tc>
                  <a:txBody>
                    <a:bodyPr/>
                    <a:lstStyle/>
                    <a:p>
                      <a:endParaRPr lang="en-IN" dirty="0"/>
                    </a:p>
                  </a:txBody>
                  <a:tcPr/>
                </a:tc>
                <a:tc>
                  <a:txBody>
                    <a:bodyPr/>
                    <a:lstStyle/>
                    <a:p>
                      <a:endParaRPr lang="en-IN"/>
                    </a:p>
                  </a:txBody>
                  <a:tcPr anchor="ctr"/>
                </a:tc>
                <a:tc>
                  <a:txBody>
                    <a:bodyPr/>
                    <a:lstStyle/>
                    <a:p>
                      <a:endParaRPr lang="en-IN"/>
                    </a:p>
                  </a:txBody>
                  <a:tcPr/>
                </a:tc>
                <a:tc>
                  <a:txBody>
                    <a:bodyPr/>
                    <a:lstStyle/>
                    <a:p>
                      <a:endParaRPr lang="en-IN" dirty="0"/>
                    </a:p>
                  </a:txBody>
                  <a:tcPr/>
                </a:tc>
              </a:tr>
            </a:tbl>
          </a:graphicData>
        </a:graphic>
      </p:graphicFrame>
      <p:sp>
        <p:nvSpPr>
          <p:cNvPr id="2" name="TextBox 1"/>
          <p:cNvSpPr txBox="1"/>
          <p:nvPr/>
        </p:nvSpPr>
        <p:spPr>
          <a:xfrm>
            <a:off x="647700" y="1256030"/>
            <a:ext cx="7733665" cy="3138170"/>
          </a:xfrm>
          <a:prstGeom prst="rect">
            <a:avLst/>
          </a:prstGeom>
          <a:noFill/>
        </p:spPr>
        <p:txBody>
          <a:bodyPr wrap="square" rtlCol="0">
            <a:spAutoFit/>
          </a:bodyPr>
          <a:lstStyle/>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Digital image acquisition is the process of capturing a real-world scene and converting it into a digital format that can be processed by computers. </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It begins with a sensor, such as a CCD or CMOS camera, which captures light and converts it into an electrical signal. </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This signal is then passed through an Analog-to-Digital Converter (ADC), where it is transformed into discrete numerical values. </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The process involves two important steps: sampling, which divides the image into pixels, and quantization, which assigns intensity values to each pixel. </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The final output is a digital image composed of a grid of pixels, making it easy to store, analyze, and use in applications such as computer vision, medical imaging, and surveillance systems.</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60010" y="639825"/>
            <a:ext cx="7200897" cy="532544"/>
          </a:xfrm>
        </p:spPr>
        <p:txBody>
          <a:bodyPr>
            <a:normAutofit fontScale="90000"/>
          </a:bodyPr>
          <a:lstStyle/>
          <a:p>
            <a:r>
              <a:rPr lang="en-IN" b="1" u="sng" dirty="0">
                <a:solidFill>
                  <a:schemeClr val="accent3">
                    <a:lumMod val="50000"/>
                  </a:schemeClr>
                </a:solidFill>
              </a:rPr>
              <a:t>ANALOG IMAGE ACQUISITION</a:t>
            </a:r>
            <a:endParaRPr lang="en-IN" sz="1800" b="1" u="sng" dirty="0">
              <a:solidFill>
                <a:schemeClr val="accent3">
                  <a:lumMod val="50000"/>
                </a:schemeClr>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AF5A71B3-99A7-4C14-A482-14D54FB923BE}" type="datetime6">
              <a:rPr lang="en-US" smtClean="0"/>
            </a:fld>
            <a:endParaRPr lang="en-US"/>
          </a:p>
        </p:txBody>
      </p:sp>
      <p:pic>
        <p:nvPicPr>
          <p:cNvPr id="4" name="Picture 6" descr="SIMATS CGPA Calculato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5226" y="456150"/>
            <a:ext cx="769568" cy="8361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Institute of Medical and Technical Sciences -SIMATS | Chenn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738554" y="1512277"/>
            <a:ext cx="7512145" cy="3138170"/>
          </a:xfrm>
          <a:prstGeom prst="rect">
            <a:avLst/>
          </a:prstGeom>
          <a:noFill/>
        </p:spPr>
        <p:txBody>
          <a:bodyPr wrap="square" rtlCol="0">
            <a:spAutoFit/>
          </a:bodyPr>
          <a:lstStyle/>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Analog image acquisition is the process of capturing a real-world scene in the form of a continuous signal without converting it into discrete values. </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In this method, light from the scene is sensed and directly transformed into an electrical signal that varies smoothly with intensity. </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Unlike digital systems, analog acquisition does not involve sampling or quantization, so the image information remains continuous. </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This results in smooth intensity variations but makes storage, processing, and analysis more difficult. </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Analog image acquisition was commonly used in older systems such as film cameras and traditional CCTV cameras, and it forms the basic foundation for modern digital imaging systems.</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457200" y="320040"/>
            <a:ext cx="8229600" cy="822960"/>
          </a:xfrm>
          <a:prstGeom prst="rect">
            <a:avLst/>
          </a:prstGeom>
          <a:noFill/>
        </p:spPr>
        <p:txBody>
          <a:bodyPr wrap="square" rtlCol="0" anchor="ctr"/>
          <a:lstStyle/>
          <a:p>
            <a:pPr algn="ctr"/>
            <a:r>
              <a:rPr lang="en-IN" altLang="en-US" sz="3600" b="1" u="sng" dirty="0">
                <a:solidFill>
                  <a:srgbClr val="002060"/>
                </a:solidFill>
                <a:latin typeface="Times New Roman" panose="02020603050405020304" pitchFamily="18" charset="0"/>
                <a:ea typeface="Optima" pitchFamily="34" charset="-122"/>
                <a:cs typeface="Times New Roman" panose="02020603050405020304" pitchFamily="18" charset="0"/>
              </a:rPr>
              <a:t>KEY DIFFERENCE </a:t>
            </a:r>
            <a:endParaRPr lang="en-IN" altLang="en-US" sz="3600" b="1" u="sng" dirty="0">
              <a:solidFill>
                <a:srgbClr val="002060"/>
              </a:solidFill>
              <a:latin typeface="Times New Roman" panose="02020603050405020304" pitchFamily="18" charset="0"/>
              <a:ea typeface="Optima" pitchFamily="34" charset="-122"/>
              <a:cs typeface="Times New Roman" panose="02020603050405020304" pitchFamily="18" charset="0"/>
            </a:endParaRPr>
          </a:p>
        </p:txBody>
      </p:sp>
      <p:pic>
        <p:nvPicPr>
          <p:cNvPr id="3" name="Picture 4" descr="Saveetha Institute of Medical and Technical Sciences -SIMATS | Chenna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SIMATS CGPA Calc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444" y="455099"/>
            <a:ext cx="769568" cy="83615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1185620" y="4068305"/>
            <a:ext cx="1298242" cy="261610"/>
          </a:xfrm>
          <a:prstGeom prst="rect">
            <a:avLst/>
          </a:prstGeom>
          <a:noFill/>
        </p:spPr>
        <p:txBody>
          <a:bodyPr wrap="square" rtlCol="0">
            <a:spAutoFit/>
          </a:bodyPr>
          <a:lstStyle/>
          <a:p>
            <a:endParaRPr lang="en-IN" sz="1100" dirty="0">
              <a:latin typeface="Times New Roman" panose="02020603050405020304" pitchFamily="18" charset="0"/>
              <a:cs typeface="Times New Roman" panose="02020603050405020304" pitchFamily="18" charset="0"/>
            </a:endParaRPr>
          </a:p>
        </p:txBody>
      </p:sp>
      <p:graphicFrame>
        <p:nvGraphicFramePr>
          <p:cNvPr id="7" name="Table 6"/>
          <p:cNvGraphicFramePr/>
          <p:nvPr/>
        </p:nvGraphicFramePr>
        <p:xfrm>
          <a:off x="1183640" y="1143000"/>
          <a:ext cx="6926580" cy="3339465"/>
        </p:xfrm>
        <a:graphic>
          <a:graphicData uri="http://schemas.openxmlformats.org/drawingml/2006/table">
            <a:tbl>
              <a:tblPr/>
              <a:tblGrid>
                <a:gridCol w="1731645"/>
                <a:gridCol w="1731645"/>
                <a:gridCol w="1731645"/>
                <a:gridCol w="1731645"/>
              </a:tblGrid>
              <a:tr h="254000">
                <a:tc>
                  <a:txBody>
                    <a:bodyPr/>
                    <a:p>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r>
              <a:tr h="762635">
                <a:tc>
                  <a:txBody>
                    <a:bodyPr/>
                    <a:p>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r>
              <a:tr h="508000">
                <a:tc>
                  <a:txBody>
                    <a:bodyPr/>
                    <a:p>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r>
              <a:tr h="762000">
                <a:tc>
                  <a:txBody>
                    <a:bodyPr/>
                    <a:p>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endParaRPr sz="1100" b="1">
                        <a:latin typeface="Times New Roman" panose="02020603050405020304" pitchFamily="18" charset="0"/>
                        <a:cs typeface="Times New Roman" panose="02020603050405020304" pitchFamily="18" charset="0"/>
                      </a:endParaRPr>
                    </a:p>
                  </a:txBody>
                  <a:tcPr marL="0" marR="0" marT="0" marB="0" anchor="ctr" anchorCtr="1">
                    <a:lnL>
                      <a:noFill/>
                    </a:lnL>
                    <a:lnR>
                      <a:noFill/>
                    </a:lnR>
                    <a:lnT>
                      <a:noFill/>
                    </a:lnT>
                    <a:lnB>
                      <a:noFill/>
                    </a:lnB>
                    <a:noFill/>
                  </a:tcPr>
                </a:tc>
              </a:tr>
              <a:tr h="526415">
                <a:tc>
                  <a:txBody>
                    <a:bodyPr/>
                    <a:p>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r>
              <a:tr h="526415">
                <a:tc>
                  <a:txBody>
                    <a:bodyPr/>
                    <a:p>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c>
                  <a:txBody>
                    <a:bodyPr/>
                    <a:p>
                      <a:endParaRPr sz="1100" b="1">
                        <a:latin typeface="Times New Roman" panose="02020603050405020304" pitchFamily="18" charset="0"/>
                        <a:cs typeface="Times New Roman" panose="02020603050405020304" pitchFamily="18" charset="0"/>
                      </a:endParaRPr>
                    </a:p>
                  </a:txBody>
                  <a:tcPr marL="0" marR="0" marT="0" marB="0" anchor="ctr" anchorCtr="0">
                    <a:lnL>
                      <a:noFill/>
                    </a:lnL>
                    <a:lnR>
                      <a:noFill/>
                    </a:lnR>
                    <a:lnT>
                      <a:noFill/>
                    </a:lnT>
                    <a:lnB>
                      <a:noFill/>
                    </a:lnB>
                    <a:noFill/>
                  </a:tcPr>
                </a:tc>
              </a:tr>
            </a:tbl>
          </a:graphicData>
        </a:graphic>
      </p:graphicFrame>
      <p:sp>
        <p:nvSpPr>
          <p:cNvPr id="2" name="Text Box 1"/>
          <p:cNvSpPr txBox="1"/>
          <p:nvPr/>
        </p:nvSpPr>
        <p:spPr>
          <a:xfrm>
            <a:off x="1185545" y="1290955"/>
            <a:ext cx="6945630" cy="3094355"/>
          </a:xfrm>
          <a:prstGeom prst="rect">
            <a:avLst/>
          </a:prstGeom>
        </p:spPr>
        <p:txBody>
          <a:bodyPr wrap="square">
            <a:noAutofit/>
          </a:bodyPr>
          <a:p>
            <a:pPr marL="285750" indent="-285750" algn="just">
              <a:buFont typeface="Wingdings" panose="05000000000000000000" charset="0"/>
              <a:buChar char="Ø"/>
            </a:pPr>
            <a:r>
              <a:rPr sz="1600">
                <a:latin typeface="Times New Roman" panose="02020603050405020304" pitchFamily="18" charset="0"/>
                <a:cs typeface="Times New Roman" panose="02020603050405020304" pitchFamily="18" charset="0"/>
              </a:rPr>
              <a:t>Analog and digital image acquisition differ mainly in the way images are represented and processed. </a:t>
            </a:r>
            <a:endParaRPr sz="16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sz="1600">
                <a:latin typeface="Times New Roman" panose="02020603050405020304" pitchFamily="18" charset="0"/>
                <a:cs typeface="Times New Roman" panose="02020603050405020304" pitchFamily="18" charset="0"/>
              </a:rPr>
              <a:t>In analog image acquisition, the image is captured as a continuous signal with smooth variations in intensity, making it difficult to store and process due to the influence of noise and lack of discrete structure. </a:t>
            </a:r>
            <a:endParaRPr sz="16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sz="1600">
                <a:latin typeface="Times New Roman" panose="02020603050405020304" pitchFamily="18" charset="0"/>
                <a:cs typeface="Times New Roman" panose="02020603050405020304" pitchFamily="18" charset="0"/>
              </a:rPr>
              <a:t>In contrast, digital image acquisition converts the image into discrete pixel values through sampling and quantization, allowing easy storage, efficient processing, and accurate analysis using computers. </a:t>
            </a:r>
            <a:endParaRPr sz="16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sz="1600">
                <a:latin typeface="Times New Roman" panose="02020603050405020304" pitchFamily="18" charset="0"/>
                <a:cs typeface="Times New Roman" panose="02020603050405020304" pitchFamily="18" charset="0"/>
              </a:rPr>
              <a:t>While analog systems were commonly used in older imaging technologies, digital systems are widely preferred today due to their flexibility, reliability, and compatibility with modern applications such as computer vision and image processing.</a:t>
            </a:r>
            <a:endParaRPr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Title 1"/>
          <p:cNvSpPr>
            <a:spLocks noGrp="1"/>
          </p:cNvSpPr>
          <p:nvPr>
            <p:ph type="title"/>
          </p:nvPr>
        </p:nvSpPr>
        <p:spPr>
          <a:xfrm>
            <a:off x="134622" y="3783965"/>
            <a:ext cx="7200897" cy="977900"/>
          </a:xfrm>
        </p:spPr>
        <p:txBody>
          <a:bodyPr/>
          <a:p>
            <a:pPr algn="l"/>
            <a:r>
              <a:rPr lang="en-IN" altLang="en-US" sz="2400"/>
              <a:t>      Analog image aquisition                    </a:t>
            </a:r>
            <a:endParaRPr lang="en-IN" altLang="en-US" sz="2400"/>
          </a:p>
        </p:txBody>
      </p:sp>
      <p:sp>
        <p:nvSpPr>
          <p:cNvPr id="3" name="Date Placeholder 2"/>
          <p:cNvSpPr>
            <a:spLocks noGrp="1"/>
          </p:cNvSpPr>
          <p:nvPr>
            <p:ph type="dt" sz="half" idx="10"/>
          </p:nvPr>
        </p:nvSpPr>
        <p:spPr/>
        <p:txBody>
          <a:bodyPr/>
          <a:p>
            <a:fld id="{AF5A71B3-99A7-4C14-A482-14D54FB923BE}" type="datetime6">
              <a:rPr lang="en-US" smtClean="0"/>
            </a:fld>
            <a:endParaRPr lang="en-US"/>
          </a:p>
        </p:txBody>
      </p:sp>
      <p:pic>
        <p:nvPicPr>
          <p:cNvPr id="4" name="Picture 3"/>
          <p:cNvPicPr/>
          <p:nvPr/>
        </p:nvPicPr>
        <p:blipFill>
          <a:blip r:embed="rId1"/>
          <a:stretch>
            <a:fillRect/>
          </a:stretch>
        </p:blipFill>
        <p:spPr>
          <a:xfrm>
            <a:off x="645795" y="1508125"/>
            <a:ext cx="3246755" cy="2127250"/>
          </a:xfrm>
          <a:prstGeom prst="rect">
            <a:avLst/>
          </a:prstGeom>
        </p:spPr>
      </p:pic>
      <p:pic>
        <p:nvPicPr>
          <p:cNvPr id="5" name="Picture 4"/>
          <p:cNvPicPr/>
          <p:nvPr/>
        </p:nvPicPr>
        <p:blipFill>
          <a:blip r:embed="rId2"/>
          <a:stretch>
            <a:fillRect/>
          </a:stretch>
        </p:blipFill>
        <p:spPr>
          <a:xfrm>
            <a:off x="4860290" y="1508125"/>
            <a:ext cx="3372485" cy="1976120"/>
          </a:xfrm>
          <a:prstGeom prst="rect">
            <a:avLst/>
          </a:prstGeom>
        </p:spPr>
      </p:pic>
      <p:sp>
        <p:nvSpPr>
          <p:cNvPr id="6" name="Text Box 5"/>
          <p:cNvSpPr txBox="1"/>
          <p:nvPr/>
        </p:nvSpPr>
        <p:spPr>
          <a:xfrm>
            <a:off x="4953000" y="4137660"/>
            <a:ext cx="3279775" cy="706755"/>
          </a:xfrm>
          <a:prstGeom prst="rect">
            <a:avLst/>
          </a:prstGeom>
          <a:noFill/>
        </p:spPr>
        <p:txBody>
          <a:bodyPr wrap="square" rtlCol="0">
            <a:spAutoFit/>
          </a:bodyPr>
          <a:p>
            <a:r>
              <a:rPr lang="en-IN" altLang="en-US" sz="2000">
                <a:sym typeface="+mn-ea"/>
              </a:rPr>
              <a:t> Digital image  aquisition</a:t>
            </a:r>
            <a:endParaRPr lang="en-IN" altLang="en-US" sz="2000"/>
          </a:p>
          <a:p>
            <a:endParaRPr lang="en-US" sz="2000"/>
          </a:p>
        </p:txBody>
      </p:sp>
      <p:sp>
        <p:nvSpPr>
          <p:cNvPr id="7" name="Text Box 6"/>
          <p:cNvSpPr txBox="1"/>
          <p:nvPr/>
        </p:nvSpPr>
        <p:spPr>
          <a:xfrm>
            <a:off x="1209675" y="656590"/>
            <a:ext cx="6498590" cy="645160"/>
          </a:xfrm>
          <a:prstGeom prst="rect">
            <a:avLst/>
          </a:prstGeom>
          <a:noFill/>
        </p:spPr>
        <p:txBody>
          <a:bodyPr wrap="square" rtlCol="0">
            <a:spAutoFit/>
          </a:bodyPr>
          <a:p>
            <a:pPr algn="ctr"/>
            <a:r>
              <a:rPr lang="en-IN" altLang="en-US" sz="3600" b="1"/>
              <a:t>Examples</a:t>
            </a:r>
            <a:endParaRPr lang="en-IN" altLang="en-US" sz="3600" b="1"/>
          </a:p>
        </p:txBody>
      </p:sp>
      <p:pic>
        <p:nvPicPr>
          <p:cNvPr id="8" name="Picture 6" descr="SIMATS CGPA Calculato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444" y="455099"/>
            <a:ext cx="769568" cy="83615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Saveetha Institute of Medical and Technical Sciences -SIMATS | Chennai"/>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1035854" y="641545"/>
            <a:ext cx="7005711" cy="638224"/>
          </a:xfrm>
          <a:prstGeom prst="rect">
            <a:avLst/>
          </a:prstGeom>
          <a:noFill/>
        </p:spPr>
        <p:txBody>
          <a:bodyPr wrap="square" rtlCol="0" anchor="ctr"/>
          <a:lstStyle/>
          <a:p>
            <a:pPr algn="ctr"/>
            <a:r>
              <a:rPr lang="en-IN" altLang="en-US" sz="2800" b="1" u="sng" dirty="0">
                <a:solidFill>
                  <a:srgbClr val="002060"/>
                </a:solidFill>
                <a:latin typeface="Times New Roman" panose="02020603050405020304" pitchFamily="18" charset="0"/>
                <a:ea typeface="Optima" pitchFamily="34" charset="-122"/>
                <a:cs typeface="Times New Roman" panose="02020603050405020304" pitchFamily="18" charset="0"/>
              </a:rPr>
              <a:t>KEY STEPS OF IMAGE ACQUISITION </a:t>
            </a:r>
            <a:endParaRPr lang="en-IN" altLang="en-US" sz="2800" u="sng" dirty="0">
              <a:solidFill>
                <a:srgbClr val="002060"/>
              </a:solidFill>
              <a:latin typeface="Times New Roman" panose="02020603050405020304" pitchFamily="18" charset="0"/>
              <a:cs typeface="Times New Roman" panose="02020603050405020304" pitchFamily="18" charset="0"/>
            </a:endParaRPr>
          </a:p>
        </p:txBody>
      </p:sp>
      <p:sp>
        <p:nvSpPr>
          <p:cNvPr id="5" name="Text 1"/>
          <p:cNvSpPr/>
          <p:nvPr/>
        </p:nvSpPr>
        <p:spPr>
          <a:xfrm>
            <a:off x="808892" y="1310102"/>
            <a:ext cx="7542162" cy="914938"/>
          </a:xfrm>
          <a:prstGeom prst="rect">
            <a:avLst/>
          </a:prstGeom>
          <a:noFill/>
        </p:spPr>
        <p:txBody>
          <a:bodyPr wrap="square" rtlCol="0" anchor="t"/>
          <a:lstStyle/>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The process of image acquisition involves several important steps that convert a real-world scene into a usable image.</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 First, the scene is captured using a sensor such as a camera, where light energy is converted into an electrical signal.</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 In analog systems, this signal remains continuous, while in digital systems it is further processed.</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 The next step is sampling, where the continuous image is divided into a grid of pixels, determining the spatial resolution. </a:t>
            </a:r>
            <a:endParaRPr lang="en-US" alt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This is followed by quantization, where each pixel is assigned a discrete intensity value, defining the brightness levels. Finally, the processed data is stored as a digital image, which can be easily displayed, analyzed, and used for further image processing applications</a:t>
            </a:r>
            <a:endParaRPr lang="en-US" altLang="en-US" dirty="0">
              <a:latin typeface="Times New Roman" panose="02020603050405020304" pitchFamily="18" charset="0"/>
              <a:cs typeface="Times New Roman" panose="02020603050405020304" pitchFamily="18" charset="0"/>
            </a:endParaRPr>
          </a:p>
        </p:txBody>
      </p:sp>
      <p:pic>
        <p:nvPicPr>
          <p:cNvPr id="2" name="Picture 4" descr="Saveetha Institute of Medical and Technical Sciences -SIMATS | Chenna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SIMATS CGPA Calc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226" y="473954"/>
            <a:ext cx="769568" cy="836150"/>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4"/>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1152732" y="598029"/>
            <a:ext cx="6679894" cy="822960"/>
          </a:xfrm>
          <a:prstGeom prst="rect">
            <a:avLst/>
          </a:prstGeom>
          <a:noFill/>
        </p:spPr>
        <p:txBody>
          <a:bodyPr wrap="square" rtlCol="0" anchor="ctr"/>
          <a:lstStyle/>
          <a:p>
            <a:pPr algn="ctr"/>
            <a:r>
              <a:rPr lang="en-IN" altLang="en-US" sz="2400" b="1" u="sng" dirty="0">
                <a:solidFill>
                  <a:srgbClr val="002060"/>
                </a:solidFill>
                <a:latin typeface="Times New Roman" panose="02020603050405020304" pitchFamily="18" charset="0"/>
                <a:cs typeface="Times New Roman" panose="02020603050405020304" pitchFamily="18" charset="0"/>
              </a:rPr>
              <a:t>APPLICATIONS</a:t>
            </a:r>
            <a:endParaRPr lang="en-IN" altLang="en-US" sz="2400" b="1" u="sng" dirty="0">
              <a:solidFill>
                <a:srgbClr val="002060"/>
              </a:solidFill>
              <a:latin typeface="Times New Roman" panose="02020603050405020304" pitchFamily="18" charset="0"/>
              <a:cs typeface="Times New Roman" panose="02020603050405020304" pitchFamily="18" charset="0"/>
            </a:endParaRPr>
          </a:p>
        </p:txBody>
      </p:sp>
      <p:pic>
        <p:nvPicPr>
          <p:cNvPr id="2" name="Picture 4" descr="Saveetha Institute of Medical and Technical Sciences -SIMATS | Chenna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6" descr="SIMATS CGPA Calc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029" y="579463"/>
            <a:ext cx="769568" cy="83615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1"/>
          <p:cNvSpPr>
            <a:spLocks noChangeArrowheads="1"/>
          </p:cNvSpPr>
          <p:nvPr/>
        </p:nvSpPr>
        <p:spPr bwMode="auto">
          <a:xfrm>
            <a:off x="859814" y="1032650"/>
            <a:ext cx="7723116" cy="3969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indent="0" algn="just" defTabSz="914400" eaLnBrk="0" fontAlgn="base" hangingPunct="0">
              <a:spcBef>
                <a:spcPct val="0"/>
              </a:spcBef>
              <a:spcAft>
                <a:spcPct val="0"/>
              </a:spcAft>
              <a:buFont typeface="Wingdings" panose="05000000000000000000" pitchFamily="2" charset="2"/>
              <a:buNone/>
            </a:pPr>
            <a:endParaRPr lang="en-US" altLang="en-US" dirty="0">
              <a:latin typeface="Times New Roman" panose="02020603050405020304" pitchFamily="18" charset="0"/>
              <a:cs typeface="Times New Roman" panose="02020603050405020304" pitchFamily="18" charset="0"/>
            </a:endParaRPr>
          </a:p>
          <a:p>
            <a:pPr marL="285750" lvl="0" indent="-285750" algn="just" defTabSz="91440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Image acquisition plays a vital role in many real-world applications by enabling machines to capture and analyze visual information.</a:t>
            </a:r>
            <a:endParaRPr lang="en-US" altLang="en-US" dirty="0">
              <a:latin typeface="Times New Roman" panose="02020603050405020304" pitchFamily="18" charset="0"/>
              <a:cs typeface="Times New Roman" panose="02020603050405020304" pitchFamily="18" charset="0"/>
            </a:endParaRPr>
          </a:p>
          <a:p>
            <a:pPr marL="285750" lvl="0" indent="-285750" algn="just" defTabSz="91440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 It is widely used in computer vision systems for tasks such as object detection, facial recognition, and autonomous driving.</a:t>
            </a:r>
            <a:endParaRPr lang="en-US" altLang="en-US" dirty="0">
              <a:latin typeface="Times New Roman" panose="02020603050405020304" pitchFamily="18" charset="0"/>
              <a:cs typeface="Times New Roman" panose="02020603050405020304" pitchFamily="18" charset="0"/>
            </a:endParaRPr>
          </a:p>
          <a:p>
            <a:pPr marL="285750" lvl="0" indent="-285750" algn="just" defTabSz="91440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 In medical imaging, it helps in capturing images like X-rays, MRI, and CT scans for diagnosis and treatment.</a:t>
            </a:r>
            <a:endParaRPr lang="en-US" altLang="en-US" dirty="0">
              <a:latin typeface="Times New Roman" panose="02020603050405020304" pitchFamily="18" charset="0"/>
              <a:cs typeface="Times New Roman" panose="02020603050405020304" pitchFamily="18" charset="0"/>
            </a:endParaRPr>
          </a:p>
          <a:p>
            <a:pPr marL="285750" lvl="0" indent="-285750" algn="just" defTabSz="91440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 Image acquisition is also essential in surveillance systems for monitoring and security purposes. </a:t>
            </a:r>
            <a:endParaRPr lang="en-US" altLang="en-US" dirty="0">
              <a:latin typeface="Times New Roman" panose="02020603050405020304" pitchFamily="18" charset="0"/>
              <a:cs typeface="Times New Roman" panose="02020603050405020304" pitchFamily="18" charset="0"/>
            </a:endParaRPr>
          </a:p>
          <a:p>
            <a:pPr marL="285750" lvl="0" indent="-285750" algn="just" defTabSz="91440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Additionally, it is used in remote sensing to capture satellite images for weather forecasting, agriculture, and environmental monitoring. These applications highlight the importance of image acquisition in both analog and digital domains for efficient data analysis and decision-making.</a:t>
            </a:r>
            <a:endParaRPr lang="en-US" altLang="en-US" dirty="0">
              <a:latin typeface="Times New Roman" panose="02020603050405020304" pitchFamily="18" charset="0"/>
              <a:cs typeface="Times New Roman" panose="02020603050405020304" pitchFamily="18" charset="0"/>
            </a:endParaRPr>
          </a:p>
          <a:p>
            <a:pPr marL="285750" lvl="0" indent="-285750" algn="just" defTabSz="914400" eaLnBrk="0" fontAlgn="base" hangingPunct="0">
              <a:spcBef>
                <a:spcPct val="0"/>
              </a:spcBef>
              <a:spcAft>
                <a:spcPct val="0"/>
              </a:spcAft>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309489" y="423839"/>
            <a:ext cx="8229600" cy="822960"/>
          </a:xfrm>
          <a:prstGeom prst="rect">
            <a:avLst/>
          </a:prstGeom>
          <a:noFill/>
        </p:spPr>
        <p:txBody>
          <a:bodyPr wrap="square" rtlCol="0" anchor="ctr"/>
          <a:lstStyle/>
          <a:p>
            <a:pPr algn="ctr"/>
            <a:r>
              <a:rPr lang="en-IN" altLang="en-US" sz="3600" b="1" u="sng" dirty="0">
                <a:solidFill>
                  <a:srgbClr val="002060"/>
                </a:solidFill>
                <a:latin typeface="Times New Roman" panose="02020603050405020304" pitchFamily="18" charset="0"/>
                <a:cs typeface="Times New Roman" panose="02020603050405020304" pitchFamily="18" charset="0"/>
              </a:rPr>
              <a:t>Accuracy control</a:t>
            </a:r>
            <a:endParaRPr lang="en-IN" altLang="en-US" sz="3600" u="sng" dirty="0">
              <a:solidFill>
                <a:srgbClr val="002060"/>
              </a:solidFill>
              <a:latin typeface="Times New Roman" panose="02020603050405020304" pitchFamily="18" charset="0"/>
              <a:cs typeface="Times New Roman" panose="02020603050405020304" pitchFamily="18" charset="0"/>
            </a:endParaRPr>
          </a:p>
        </p:txBody>
      </p:sp>
      <p:sp>
        <p:nvSpPr>
          <p:cNvPr id="5" name="Text 1"/>
          <p:cNvSpPr/>
          <p:nvPr/>
        </p:nvSpPr>
        <p:spPr>
          <a:xfrm>
            <a:off x="1366289" y="1350655"/>
            <a:ext cx="1681285" cy="369333"/>
          </a:xfrm>
          <a:prstGeom prst="rect">
            <a:avLst/>
          </a:prstGeom>
          <a:noFill/>
        </p:spPr>
        <p:txBody>
          <a:bodyPr wrap="square" rtlCol="0" anchor="t"/>
          <a:lstStyle/>
          <a:p>
            <a:endParaRPr lang="en-US" sz="1600" b="1" u="sng" dirty="0">
              <a:latin typeface="Times New Roman" panose="02020603050405020304" pitchFamily="18" charset="0"/>
              <a:cs typeface="Times New Roman" panose="02020603050405020304" pitchFamily="18" charset="0"/>
            </a:endParaRPr>
          </a:p>
        </p:txBody>
      </p:sp>
      <p:pic>
        <p:nvPicPr>
          <p:cNvPr id="3" name="Picture 4" descr="Saveetha Institute of Medical and Technical Sciences -SIMATS | Chenna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SIMATS CGPA Calc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226" y="473954"/>
            <a:ext cx="769568" cy="836150"/>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1"/>
          <p:cNvSpPr txBox="1"/>
          <p:nvPr/>
        </p:nvSpPr>
        <p:spPr>
          <a:xfrm>
            <a:off x="683260" y="1488440"/>
            <a:ext cx="7312025" cy="2799715"/>
          </a:xfrm>
          <a:prstGeom prst="rect">
            <a:avLst/>
          </a:prstGeom>
        </p:spPr>
        <p:txBody>
          <a:bodyPr wrap="square">
            <a:spAutoFit/>
          </a:bodyPr>
          <a:p>
            <a:pPr marL="285750" indent="-285750" algn="just">
              <a:buFont typeface="Wingdings" panose="05000000000000000000" charset="0"/>
              <a:buChar char="Ø"/>
            </a:pPr>
            <a:r>
              <a:rPr lang="en-US" altLang="en-US" sz="1600">
                <a:latin typeface="Times New Roman" panose="02020603050405020304" pitchFamily="18" charset="0"/>
                <a:cs typeface="Times New Roman" panose="02020603050405020304" pitchFamily="18" charset="0"/>
              </a:rPr>
              <a:t>Accuracy control in image acquisition refers to how precisely the captured image represents the original real-world scene. </a:t>
            </a:r>
            <a:endParaRPr lang="en-US" altLang="en-US" sz="16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lang="en-US" altLang="en-US" sz="1600">
                <a:latin typeface="Times New Roman" panose="02020603050405020304" pitchFamily="18" charset="0"/>
                <a:cs typeface="Times New Roman" panose="02020603050405020304" pitchFamily="18" charset="0"/>
              </a:rPr>
              <a:t>In analog image acquisition, accuracy is difficult to control because the continuous signal is highly affected by noise, distortion, and environmental conditions, which can degrade image quality.</a:t>
            </a:r>
            <a:endParaRPr lang="en-US" altLang="en-US" sz="16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lang="en-US" altLang="en-US" sz="1600">
                <a:latin typeface="Times New Roman" panose="02020603050405020304" pitchFamily="18" charset="0"/>
                <a:cs typeface="Times New Roman" panose="02020603050405020304" pitchFamily="18" charset="0"/>
              </a:rPr>
              <a:t> In contrast, digital image acquisition offers better accuracy control through parameters such as spatial resolution (number of pixels) and intensity resolution (number of gray levels).</a:t>
            </a:r>
            <a:endParaRPr lang="en-US" altLang="en-US" sz="16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lang="en-US" altLang="en-US" sz="1600">
                <a:latin typeface="Times New Roman" panose="02020603050405020304" pitchFamily="18" charset="0"/>
                <a:cs typeface="Times New Roman" panose="02020603050405020304" pitchFamily="18" charset="0"/>
              </a:rPr>
              <a:t> By adjusting sampling and quantization levels, digital systems can achieve higher precision, consistency, and reliability, making them more suitable for modern image processing and analysis applications.</a:t>
            </a:r>
            <a:endParaRPr lang="en-US" altLang="en-US"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457200" y="407962"/>
            <a:ext cx="8229600" cy="891371"/>
          </a:xfrm>
          <a:prstGeom prst="rect">
            <a:avLst/>
          </a:prstGeom>
          <a:noFill/>
        </p:spPr>
        <p:txBody>
          <a:bodyPr wrap="square" rtlCol="0" anchor="ctr"/>
          <a:lstStyle/>
          <a:p>
            <a:pPr algn="ctr"/>
            <a:endParaRPr lang="en-IN" altLang="en-US" sz="3600" b="1" u="sng" dirty="0">
              <a:solidFill>
                <a:srgbClr val="002060"/>
              </a:solidFill>
              <a:latin typeface="Times New Roman" panose="02020603050405020304" pitchFamily="18" charset="0"/>
              <a:ea typeface="Optima" pitchFamily="34" charset="-122"/>
              <a:cs typeface="Times New Roman" panose="02020603050405020304" pitchFamily="18" charset="0"/>
            </a:endParaRPr>
          </a:p>
        </p:txBody>
      </p:sp>
      <p:pic>
        <p:nvPicPr>
          <p:cNvPr id="3" name="Picture 4" descr="Saveetha Institute of Medical and Technical Sciences -SIMATS | Chenna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SIMATS CGPA Calc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226" y="463184"/>
            <a:ext cx="769568" cy="836150"/>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1"/>
          <p:cNvSpPr txBox="1"/>
          <p:nvPr/>
        </p:nvSpPr>
        <p:spPr>
          <a:xfrm>
            <a:off x="3023870" y="942975"/>
            <a:ext cx="3048000" cy="583565"/>
          </a:xfrm>
          <a:prstGeom prst="rect">
            <a:avLst/>
          </a:prstGeom>
          <a:noFill/>
        </p:spPr>
        <p:txBody>
          <a:bodyPr wrap="square" rtlCol="0">
            <a:spAutoFit/>
          </a:bodyPr>
          <a:p>
            <a:r>
              <a:rPr lang="en-IN" altLang="en-US" sz="3200" b="1"/>
              <a:t>CONCLUSION</a:t>
            </a:r>
            <a:endParaRPr lang="en-IN" altLang="en-US" sz="3200" b="1"/>
          </a:p>
        </p:txBody>
      </p:sp>
      <p:sp>
        <p:nvSpPr>
          <p:cNvPr id="5" name="Text Box 4"/>
          <p:cNvSpPr txBox="1"/>
          <p:nvPr/>
        </p:nvSpPr>
        <p:spPr>
          <a:xfrm>
            <a:off x="896620" y="1685290"/>
            <a:ext cx="7745095" cy="2861310"/>
          </a:xfrm>
          <a:prstGeom prst="rect">
            <a:avLst/>
          </a:prstGeom>
          <a:noFill/>
        </p:spPr>
        <p:txBody>
          <a:bodyPr wrap="square" rtlCol="0">
            <a:spAutoFit/>
          </a:bodyPr>
          <a:p>
            <a:pPr marL="285750" indent="-285750" algn="just">
              <a:buFont typeface="Wingdings" panose="05000000000000000000" charset="0"/>
              <a:buChar char="Ø"/>
            </a:pPr>
            <a:r>
              <a:rPr lang="en-US" altLang="en-US">
                <a:latin typeface="Times New Roman" panose="02020603050405020304" pitchFamily="18" charset="0"/>
                <a:cs typeface="Times New Roman" panose="02020603050405020304" pitchFamily="18" charset="0"/>
              </a:rPr>
              <a:t>In conclusion, image acquisition is a fundamental step in image processing that enables the capture of real-world scenes for analysis and interpretation. </a:t>
            </a:r>
            <a:endParaRPr lang="en-US" altLang="en-US">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lang="en-US" altLang="en-US">
                <a:latin typeface="Times New Roman" panose="02020603050405020304" pitchFamily="18" charset="0"/>
                <a:cs typeface="Times New Roman" panose="02020603050405020304" pitchFamily="18" charset="0"/>
              </a:rPr>
              <a:t>While analog image acquisition represents images as continuous signals, digital image acquisition converts them into discrete pixel values, making processing, storage, and analysis much more efficient.</a:t>
            </a:r>
            <a:endParaRPr lang="en-US" altLang="en-US">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lang="en-US" altLang="en-US">
                <a:latin typeface="Times New Roman" panose="02020603050405020304" pitchFamily="18" charset="0"/>
                <a:cs typeface="Times New Roman" panose="02020603050405020304" pitchFamily="18" charset="0"/>
              </a:rPr>
              <a:t> With advancements in technology, digital methods have become dominant due to their accuracy, flexibility, and compatibility with modern applications such as computer vision, medical imaging, and surveillance systems. </a:t>
            </a:r>
            <a:endParaRPr lang="en-US" altLang="en-US">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lang="en-US" altLang="en-US">
                <a:latin typeface="Times New Roman" panose="02020603050405020304" pitchFamily="18" charset="0"/>
                <a:cs typeface="Times New Roman" panose="02020603050405020304" pitchFamily="18" charset="0"/>
              </a:rPr>
              <a:t>Understanding both approaches helps in designing better imaging systems and improving overall image quality.</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5226" y="416197"/>
            <a:ext cx="8229600" cy="822960"/>
          </a:xfrm>
          <a:prstGeom prst="rect">
            <a:avLst/>
          </a:prstGeom>
          <a:noFill/>
        </p:spPr>
        <p:txBody>
          <a:bodyPr wrap="square" rtlCol="0" anchor="ctr"/>
          <a:lstStyle/>
          <a:p>
            <a:pPr algn="ctr"/>
            <a:r>
              <a:rPr lang="en-IN" altLang="en-US" sz="2400" b="1" u="sng" dirty="0">
                <a:solidFill>
                  <a:srgbClr val="002060"/>
                </a:solidFill>
                <a:latin typeface="Times New Roman" panose="02020603050405020304" pitchFamily="18" charset="0"/>
                <a:ea typeface="Optima" pitchFamily="34" charset="-122"/>
                <a:cs typeface="Times New Roman" panose="02020603050405020304" pitchFamily="18" charset="0"/>
              </a:rPr>
              <a:t>CHALLENGES AND FUTURE WORKS</a:t>
            </a:r>
            <a:endParaRPr lang="en-IN" altLang="en-US" sz="2400" b="1" u="sng" dirty="0">
              <a:solidFill>
                <a:srgbClr val="002060"/>
              </a:solidFill>
              <a:latin typeface="Times New Roman" panose="02020603050405020304" pitchFamily="18" charset="0"/>
              <a:ea typeface="Optima" pitchFamily="34" charset="-122"/>
              <a:cs typeface="Times New Roman" panose="02020603050405020304" pitchFamily="18" charset="0"/>
            </a:endParaRPr>
          </a:p>
        </p:txBody>
      </p:sp>
      <p:pic>
        <p:nvPicPr>
          <p:cNvPr id="4" name="Picture 4" descr="Saveetha Institute of Medical and Technical Sciences -SIMATS | Chenna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SIMATS CGPA Calc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226" y="435048"/>
            <a:ext cx="769568" cy="83615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1"/>
          <p:cNvSpPr>
            <a:spLocks noChangeArrowheads="1"/>
          </p:cNvSpPr>
          <p:nvPr/>
        </p:nvSpPr>
        <p:spPr bwMode="auto">
          <a:xfrm>
            <a:off x="643206" y="1655092"/>
            <a:ext cx="7791008" cy="258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lvl="0" indent="-342900" algn="just" defTabSz="91440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Image acquisition faces several challenges that affect the quality and efficiency of captured images. One major challenge is noise and distortion, especially in analog systems, which can degrade image clarity. In digital image acquisition, issues such as limited resolution, quantization errors, and sensor limitations can impact accuracy. </a:t>
            </a:r>
            <a:endParaRPr lang="en-US" altLang="en-US" dirty="0">
              <a:latin typeface="Times New Roman" panose="02020603050405020304" pitchFamily="18" charset="0"/>
              <a:cs typeface="Times New Roman" panose="02020603050405020304" pitchFamily="18" charset="0"/>
            </a:endParaRPr>
          </a:p>
          <a:p>
            <a:pPr marL="342900" lvl="0" indent="-342900" algn="just" defTabSz="914400" eaLnBrk="0" fontAlgn="base" hangingPunct="0">
              <a:spcBef>
                <a:spcPct val="0"/>
              </a:spcBef>
              <a:spcAft>
                <a:spcPct val="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Future work in image acquisition focuses on improving sensor technology, such as developing high-resolution and low-noise CMOS sensors. Advanced techniques like artificial intelligence and deep learning are being integrated to enhance image quality, reduce noise, and improve feature extraction. </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Title 1"/>
          <p:cNvSpPr>
            <a:spLocks noGrp="1"/>
          </p:cNvSpPr>
          <p:nvPr>
            <p:ph type="title"/>
          </p:nvPr>
        </p:nvSpPr>
        <p:spPr>
          <a:xfrm>
            <a:off x="971552" y="488315"/>
            <a:ext cx="7200897" cy="977900"/>
          </a:xfrm>
        </p:spPr>
        <p:txBody>
          <a:bodyPr/>
          <a:p>
            <a:r>
              <a:rPr lang="en-IN" altLang="en-US" b="1">
                <a:latin typeface="Times New Roman" panose="02020603050405020304" pitchFamily="18" charset="0"/>
                <a:cs typeface="Times New Roman" panose="02020603050405020304" pitchFamily="18" charset="0"/>
              </a:rPr>
              <a:t>BLOCK DIAGRAM</a:t>
            </a:r>
            <a:endParaRPr lang="en-IN" altLang="en-US" b="1">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p>
            <a:fld id="{AF5A71B3-99A7-4C14-A482-14D54FB923BE}" type="datetime6">
              <a:rPr lang="en-US" smtClean="0"/>
            </a:fld>
            <a:endParaRPr lang="en-US"/>
          </a:p>
        </p:txBody>
      </p:sp>
      <p:pic>
        <p:nvPicPr>
          <p:cNvPr id="5" name="Picture 6" descr="SIMATS CGPA Calculato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5226" y="435048"/>
            <a:ext cx="769568" cy="8361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Saveetha Institute of Medical and Technical Sciences -SIMATS | Chenn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p:nvPr/>
        </p:nvPicPr>
        <p:blipFill>
          <a:blip r:embed="rId3"/>
          <a:stretch>
            <a:fillRect/>
          </a:stretch>
        </p:blipFill>
        <p:spPr>
          <a:xfrm>
            <a:off x="1512570" y="1368425"/>
            <a:ext cx="6095365" cy="31083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13587" y="1830872"/>
            <a:ext cx="4904256" cy="786926"/>
          </a:xfrm>
        </p:spPr>
        <p:txBody>
          <a:bodyPr>
            <a:noAutofit/>
          </a:bodyPr>
          <a:lstStyle/>
          <a:p>
            <a:r>
              <a:rPr lang="en-IN" sz="8000" dirty="0">
                <a:solidFill>
                  <a:srgbClr val="002060"/>
                </a:solidFill>
                <a:latin typeface="Lucida Handwriting" panose="03010101010101010101" charset="0"/>
                <a:cs typeface="Lucida Handwriting" panose="03010101010101010101" charset="0"/>
              </a:rPr>
              <a:t>Thank you!!!</a:t>
            </a:r>
            <a:endParaRPr lang="en-IN" sz="8000" dirty="0">
              <a:solidFill>
                <a:srgbClr val="002060"/>
              </a:solidFill>
              <a:latin typeface="Lucida Handwriting" panose="03010101010101010101" charset="0"/>
              <a:cs typeface="Lucida Handwriting" panose="03010101010101010101" charset="0"/>
            </a:endParaRPr>
          </a:p>
        </p:txBody>
      </p:sp>
      <p:pic>
        <p:nvPicPr>
          <p:cNvPr id="5" name="Picture 6" descr="SIMATS CGPA Calculato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5226" y="435048"/>
            <a:ext cx="769568" cy="8361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Saveetha Institute of Medical and Technical Sciences -SIMATS | Chenn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2625" y="488023"/>
            <a:ext cx="836149" cy="8361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0</TotalTime>
  <Words>6922</Words>
  <Application>WPS Presentation</Application>
  <PresentationFormat>On-screen Show (16:9)</PresentationFormat>
  <Paragraphs>96</Paragraphs>
  <Slides>13</Slides>
  <Notes>10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13</vt:i4>
      </vt:variant>
    </vt:vector>
  </HeadingPairs>
  <TitlesOfParts>
    <vt:vector size="26" baseType="lpstr">
      <vt:lpstr>Arial</vt:lpstr>
      <vt:lpstr>SimSun</vt:lpstr>
      <vt:lpstr>Wingdings</vt:lpstr>
      <vt:lpstr>Arial</vt:lpstr>
      <vt:lpstr>Times New Roman</vt:lpstr>
      <vt:lpstr>Optima</vt:lpstr>
      <vt:lpstr>Wingdings</vt:lpstr>
      <vt:lpstr>Lucida Handwriting</vt:lpstr>
      <vt:lpstr>Microsoft YaHei</vt:lpstr>
      <vt:lpstr>Arial Unicode MS</vt:lpstr>
      <vt:lpstr>Garamond</vt:lpstr>
      <vt:lpstr>Calibri</vt:lpstr>
      <vt:lpstr>Organic</vt:lpstr>
      <vt:lpstr>PowerPoint 演示文稿</vt:lpstr>
      <vt:lpstr>PowerPoint 演示文稿</vt:lpstr>
      <vt:lpstr>PowerPoint 演示文稿</vt:lpstr>
      <vt:lpstr>  OBJECTIVES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REFERENCES</vt:lpstr>
      <vt:lpstr>Thank you!!!</vt:lpstr>
    </vt:vector>
  </TitlesOfParts>
  <Company>SlideMake.com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Analyze A Triple-Mode Calling Bell Using Transistors</dc:title>
  <dc:creator>SlideMake.com</dc:creator>
  <dc:subject>Design And Analyze A Triple-Mode Calling Bell Using Transistors</dc:subject>
  <cp:lastModifiedBy>aswini k</cp:lastModifiedBy>
  <cp:revision>34</cp:revision>
  <dcterms:created xsi:type="dcterms:W3CDTF">2025-03-19T04:22:00Z</dcterms:created>
  <dcterms:modified xsi:type="dcterms:W3CDTF">2026-07-31T16:33:19Z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A4A97607ECAF46D4A256D848761C7FAB_13</vt:lpwstr>
  </property>
  <property fmtid="{D5CDD505-2E9C-101B-9397-08002B2CF9AE}" pid="3" name="KSOProductBuildVer">
    <vt:lpwstr>1033-12.1.0.27458</vt:lpwstr>
  </property>
</Properties>
</file>